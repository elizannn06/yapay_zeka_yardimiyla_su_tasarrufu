
<file path=[Content_Types].xml><?xml version="1.0" encoding="utf-8"?>
<Types xmlns="http://schemas.openxmlformats.org/package/2006/content-types">
  <Default Extension="jpeg" ContentType="image/jpeg"/>
  <Default Extension="mp3" ContentType="audio/m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315" r:id="rId2"/>
    <p:sldId id="257" r:id="rId3"/>
    <p:sldId id="258" r:id="rId4"/>
    <p:sldId id="259" r:id="rId5"/>
    <p:sldId id="275" r:id="rId6"/>
    <p:sldId id="314" r:id="rId7"/>
    <p:sldId id="260" r:id="rId8"/>
    <p:sldId id="276" r:id="rId9"/>
    <p:sldId id="278" r:id="rId10"/>
    <p:sldId id="284" r:id="rId11"/>
    <p:sldId id="285" r:id="rId12"/>
    <p:sldId id="279" r:id="rId13"/>
    <p:sldId id="286" r:id="rId14"/>
    <p:sldId id="277" r:id="rId15"/>
    <p:sldId id="287" r:id="rId16"/>
    <p:sldId id="288" r:id="rId17"/>
    <p:sldId id="280" r:id="rId18"/>
    <p:sldId id="281" r:id="rId19"/>
    <p:sldId id="282" r:id="rId20"/>
    <p:sldId id="283" r:id="rId21"/>
    <p:sldId id="268" r:id="rId22"/>
    <p:sldId id="262" r:id="rId23"/>
    <p:sldId id="274" r:id="rId24"/>
    <p:sldId id="269" r:id="rId25"/>
    <p:sldId id="270" r:id="rId26"/>
    <p:sldId id="271" r:id="rId27"/>
    <p:sldId id="265" r:id="rId28"/>
    <p:sldId id="264" r:id="rId29"/>
    <p:sldId id="263" r:id="rId30"/>
    <p:sldId id="261" r:id="rId31"/>
    <p:sldId id="289" r:id="rId32"/>
    <p:sldId id="290" r:id="rId33"/>
    <p:sldId id="291" r:id="rId34"/>
    <p:sldId id="292" r:id="rId35"/>
    <p:sldId id="297" r:id="rId36"/>
    <p:sldId id="298" r:id="rId37"/>
    <p:sldId id="299" r:id="rId38"/>
    <p:sldId id="300" r:id="rId39"/>
    <p:sldId id="308" r:id="rId40"/>
    <p:sldId id="309" r:id="rId41"/>
    <p:sldId id="311" r:id="rId42"/>
    <p:sldId id="312" r:id="rId43"/>
    <p:sldId id="293" r:id="rId44"/>
    <p:sldId id="294" r:id="rId45"/>
    <p:sldId id="295" r:id="rId46"/>
    <p:sldId id="307" r:id="rId47"/>
    <p:sldId id="30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8297C6-A240-A4A7-503C-54773FAA0E4B}" v="60" dt="2025-12-01T16:28:29.7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8603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23345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12/1/2025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26941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24556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12/1/2025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98534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12/1/2025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6216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12/1/2025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29780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12/1/2025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82496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12/1/2025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04585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12/1/2025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02706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12/1/2025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68228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12/1/2025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27558373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88" r:id="rId6"/>
    <p:sldLayoutId id="2147483684" r:id="rId7"/>
    <p:sldLayoutId id="2147483685" r:id="rId8"/>
    <p:sldLayoutId id="2147483686" r:id="rId9"/>
    <p:sldLayoutId id="2147483687" r:id="rId10"/>
    <p:sldLayoutId id="2147483689"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4.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4.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4.xml"/><Relationship Id="rId4" Type="http://schemas.openxmlformats.org/officeDocument/2006/relationships/image" Target="../media/image22.jpeg"/></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4.xml"/><Relationship Id="rId4" Type="http://schemas.openxmlformats.org/officeDocument/2006/relationships/image" Target="../media/image25.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27.png"/><Relationship Id="rId4" Type="http://schemas.openxmlformats.org/officeDocument/2006/relationships/image" Target="../media/image26.jpeg"/></Relationships>
</file>

<file path=ppt/slides/_rels/slide1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4.xml"/><Relationship Id="rId4" Type="http://schemas.openxmlformats.org/officeDocument/2006/relationships/image" Target="../media/image31.jpeg"/></Relationships>
</file>

<file path=ppt/slides/_rels/slide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5" Type="http://schemas.openxmlformats.org/officeDocument/2006/relationships/image" Target="../media/image62.png"/><Relationship Id="rId4" Type="http://schemas.openxmlformats.org/officeDocument/2006/relationships/image" Target="../media/image61.png"/></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mfa.gov.tr/turkiye_s-policy-on-water-issues.en.mfa" TargetMode="External"/><Relationship Id="rId2" Type="http://schemas.openxmlformats.org/officeDocument/2006/relationships/hyperlink" Target="https://www.unwater.org/water-facts/water-scarcity?utm_source=chatgpt.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7F17A5-4B36-E894-0AA9-BF3245FC7AA4}"/>
              </a:ext>
            </a:extLst>
          </p:cNvPr>
          <p:cNvSpPr>
            <a:spLocks noGrp="1"/>
          </p:cNvSpPr>
          <p:nvPr>
            <p:ph type="title"/>
          </p:nvPr>
        </p:nvSpPr>
        <p:spPr>
          <a:xfrm>
            <a:off x="604798" y="557784"/>
            <a:ext cx="4117552" cy="1638203"/>
          </a:xfrm>
        </p:spPr>
        <p:txBody>
          <a:bodyPr/>
          <a:lstStyle/>
          <a:p>
            <a:r>
              <a:rPr lang="tr-TR"/>
              <a:t>ÜRETKEN YAPAY ZEKA İLE KİŞİSEL SU ASİSTANI</a:t>
            </a:r>
          </a:p>
        </p:txBody>
      </p:sp>
      <p:pic>
        <p:nvPicPr>
          <p:cNvPr id="5" name="Resim Yer Tutucusu 4" descr="dış mekan, su, gökyüzü, ağaç içeren bir resim&#10;&#10;Yapay zeka tarafından oluşturulmuş içerik yanlış olabilir.">
            <a:extLst>
              <a:ext uri="{FF2B5EF4-FFF2-40B4-BE49-F238E27FC236}">
                <a16:creationId xmlns:a16="http://schemas.microsoft.com/office/drawing/2014/main" id="{FA1F6F51-F966-8720-1134-4796C88E8E13}"/>
              </a:ext>
            </a:extLst>
          </p:cNvPr>
          <p:cNvPicPr>
            <a:picLocks noGrp="1" noChangeAspect="1"/>
          </p:cNvPicPr>
          <p:nvPr>
            <p:ph type="pic" idx="1"/>
          </p:nvPr>
        </p:nvPicPr>
        <p:blipFill>
          <a:blip r:embed="rId2"/>
          <a:srcRect t="7160" b="7160"/>
          <a:stretch/>
        </p:blipFill>
        <p:spPr>
          <a:xfrm>
            <a:off x="6091007" y="461454"/>
            <a:ext cx="5602203" cy="5555904"/>
          </a:xfrm>
          <a:prstGeom prst="rect">
            <a:avLst/>
          </a:prstGeom>
        </p:spPr>
      </p:pic>
      <p:sp>
        <p:nvSpPr>
          <p:cNvPr id="4" name="Metin Yer Tutucusu 3">
            <a:extLst>
              <a:ext uri="{FF2B5EF4-FFF2-40B4-BE49-F238E27FC236}">
                <a16:creationId xmlns:a16="http://schemas.microsoft.com/office/drawing/2014/main" id="{51FEB3B7-04B7-7060-B94B-F3D099B068FF}"/>
              </a:ext>
            </a:extLst>
          </p:cNvPr>
          <p:cNvSpPr>
            <a:spLocks noGrp="1"/>
          </p:cNvSpPr>
          <p:nvPr>
            <p:ph type="body" sz="half" idx="2"/>
          </p:nvPr>
        </p:nvSpPr>
        <p:spPr>
          <a:xfrm>
            <a:off x="609601" y="1991774"/>
            <a:ext cx="3898738" cy="3434216"/>
          </a:xfrm>
        </p:spPr>
        <p:txBody>
          <a:bodyPr>
            <a:normAutofit/>
          </a:bodyPr>
          <a:lstStyle/>
          <a:p>
            <a:r>
              <a:rPr lang="tr-TR" sz="1200">
                <a:latin typeface="Times New Roman"/>
                <a:cs typeface="Times New Roman"/>
              </a:rPr>
              <a:t>Hazırlayanlar:</a:t>
            </a:r>
            <a:endParaRPr lang="tr-TR" sz="1200">
              <a:latin typeface="Neue Haas Grotesk Text Pro"/>
              <a:cs typeface="Times New Roman"/>
            </a:endParaRPr>
          </a:p>
          <a:p>
            <a:r>
              <a:rPr lang="tr-TR" sz="1200">
                <a:latin typeface="Times New Roman"/>
                <a:cs typeface="Times New Roman"/>
              </a:rPr>
              <a:t>B251210351 Asude Elif Karaağaç</a:t>
            </a:r>
            <a:endParaRPr lang="tr-TR" sz="1200">
              <a:latin typeface="Neue Haas Grotesk Text Pro"/>
              <a:cs typeface="Times New Roman"/>
            </a:endParaRPr>
          </a:p>
          <a:p>
            <a:r>
              <a:rPr lang="tr-TR" sz="1200">
                <a:latin typeface="Times New Roman"/>
                <a:cs typeface="Times New Roman"/>
              </a:rPr>
              <a:t>B241210067 Elizan Baba</a:t>
            </a:r>
            <a:endParaRPr lang="tr-TR" sz="1200"/>
          </a:p>
          <a:p>
            <a:r>
              <a:rPr lang="tr-TR" sz="1200">
                <a:latin typeface="Times New Roman"/>
                <a:cs typeface="Times New Roman"/>
              </a:rPr>
              <a:t>B241210055 Ayşegül Ülker</a:t>
            </a:r>
            <a:endParaRPr lang="tr-TR" sz="1200"/>
          </a:p>
          <a:p>
            <a:r>
              <a:rPr lang="tr-TR" sz="1200">
                <a:latin typeface="Times New Roman"/>
                <a:cs typeface="Times New Roman"/>
              </a:rPr>
              <a:t>B241210053 Uğur Gökmen</a:t>
            </a:r>
            <a:endParaRPr lang="tr-TR" sz="1200"/>
          </a:p>
          <a:p>
            <a:r>
              <a:rPr lang="tr-TR" sz="1200">
                <a:latin typeface="Times New Roman"/>
                <a:cs typeface="Times New Roman"/>
              </a:rPr>
              <a:t>B241210031 İrem Sunar</a:t>
            </a:r>
            <a:endParaRPr lang="tr-TR" sz="1200"/>
          </a:p>
          <a:p>
            <a:r>
              <a:rPr lang="tr-TR" sz="1200">
                <a:latin typeface="Times New Roman"/>
                <a:cs typeface="Times New Roman"/>
              </a:rPr>
              <a:t>B241210001 Hilal İrem Patan</a:t>
            </a:r>
            <a:endParaRPr lang="tr-TR" sz="1200"/>
          </a:p>
          <a:p>
            <a:r>
              <a:rPr lang="tr-TR" sz="1200">
                <a:latin typeface="Times New Roman"/>
                <a:cs typeface="Times New Roman"/>
              </a:rPr>
              <a:t>B241210091 Bedriye Nazife </a:t>
            </a:r>
            <a:r>
              <a:rPr lang="tr-TR" sz="1200" err="1">
                <a:latin typeface="Times New Roman"/>
                <a:cs typeface="Times New Roman"/>
              </a:rPr>
              <a:t>Harputluoğlu</a:t>
            </a:r>
            <a:endParaRPr lang="tr-TR" sz="1200"/>
          </a:p>
          <a:p>
            <a:r>
              <a:rPr lang="tr-TR" sz="1200">
                <a:latin typeface="Times New Roman"/>
                <a:cs typeface="Times New Roman"/>
              </a:rPr>
              <a:t>B241210567 </a:t>
            </a:r>
            <a:r>
              <a:rPr lang="tr-TR" sz="1200" err="1">
                <a:latin typeface="Times New Roman"/>
                <a:cs typeface="Times New Roman"/>
              </a:rPr>
              <a:t>Şekife</a:t>
            </a:r>
            <a:r>
              <a:rPr lang="tr-TR" sz="1200">
                <a:latin typeface="Times New Roman"/>
                <a:cs typeface="Times New Roman"/>
              </a:rPr>
              <a:t> Nur Çakmakçı</a:t>
            </a:r>
            <a:endParaRPr lang="tr-TR" sz="1200"/>
          </a:p>
          <a:p>
            <a:endParaRPr lang="tr-TR" sz="1200"/>
          </a:p>
        </p:txBody>
      </p:sp>
      <p:pic>
        <p:nvPicPr>
          <p:cNvPr id="3" name="Picture 2" descr="A blue and white logo&#10;&#10;AI-generated content may be incorrect.">
            <a:extLst>
              <a:ext uri="{FF2B5EF4-FFF2-40B4-BE49-F238E27FC236}">
                <a16:creationId xmlns:a16="http://schemas.microsoft.com/office/drawing/2014/main" id="{45C8080C-6F89-AE1C-EFD1-0E05B8452A86}"/>
              </a:ext>
            </a:extLst>
          </p:cNvPr>
          <p:cNvPicPr>
            <a:picLocks noChangeAspect="1"/>
          </p:cNvPicPr>
          <p:nvPr/>
        </p:nvPicPr>
        <p:blipFill>
          <a:blip r:embed="rId3"/>
          <a:stretch>
            <a:fillRect/>
          </a:stretch>
        </p:blipFill>
        <p:spPr>
          <a:xfrm>
            <a:off x="3726335" y="4425521"/>
            <a:ext cx="2000250" cy="2228850"/>
          </a:xfrm>
          <a:prstGeom prst="rect">
            <a:avLst/>
          </a:prstGeom>
        </p:spPr>
      </p:pic>
    </p:spTree>
    <p:extLst>
      <p:ext uri="{BB962C8B-B14F-4D97-AF65-F5344CB8AC3E}">
        <p14:creationId xmlns:p14="http://schemas.microsoft.com/office/powerpoint/2010/main" val="2138139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A4AE5-0D94-9C1B-5856-C1D2E4BE2F25}"/>
              </a:ext>
            </a:extLst>
          </p:cNvPr>
          <p:cNvSpPr>
            <a:spLocks noGrp="1"/>
          </p:cNvSpPr>
          <p:nvPr>
            <p:ph type="title"/>
          </p:nvPr>
        </p:nvSpPr>
        <p:spPr/>
        <p:txBody>
          <a:bodyPr/>
          <a:lstStyle/>
          <a:p>
            <a:r>
              <a:rPr lang="en-US" err="1"/>
              <a:t>Projenin</a:t>
            </a:r>
            <a:r>
              <a:rPr lang="en-US"/>
              <a:t> </a:t>
            </a:r>
            <a:r>
              <a:rPr lang="en-US" err="1"/>
              <a:t>Konusu</a:t>
            </a:r>
            <a:r>
              <a:rPr lang="en-US"/>
              <a:t> Nedir?</a:t>
            </a:r>
          </a:p>
        </p:txBody>
      </p:sp>
      <p:sp>
        <p:nvSpPr>
          <p:cNvPr id="3" name="Content Placeholder 2">
            <a:extLst>
              <a:ext uri="{FF2B5EF4-FFF2-40B4-BE49-F238E27FC236}">
                <a16:creationId xmlns:a16="http://schemas.microsoft.com/office/drawing/2014/main" id="{EBA958FD-B305-6188-CE82-22EFC273ED48}"/>
              </a:ext>
            </a:extLst>
          </p:cNvPr>
          <p:cNvSpPr>
            <a:spLocks noGrp="1"/>
          </p:cNvSpPr>
          <p:nvPr>
            <p:ph idx="1"/>
          </p:nvPr>
        </p:nvSpPr>
        <p:spPr/>
        <p:txBody>
          <a:bodyPr vert="horz" lIns="91440" tIns="45720" rIns="91440" bIns="45720" rtlCol="0" anchor="t">
            <a:normAutofit/>
          </a:bodyPr>
          <a:lstStyle/>
          <a:p>
            <a:r>
              <a:rPr lang="en-US" err="1"/>
              <a:t>Bireylerin</a:t>
            </a:r>
            <a:r>
              <a:rPr lang="en-US"/>
              <a:t> </a:t>
            </a:r>
            <a:r>
              <a:rPr lang="en-US" err="1"/>
              <a:t>günlük</a:t>
            </a:r>
            <a:r>
              <a:rPr lang="en-US"/>
              <a:t> </a:t>
            </a:r>
            <a:r>
              <a:rPr lang="en-US" err="1"/>
              <a:t>su</a:t>
            </a:r>
            <a:r>
              <a:rPr lang="en-US"/>
              <a:t> </a:t>
            </a:r>
            <a:r>
              <a:rPr lang="en-US" err="1"/>
              <a:t>tüketimini</a:t>
            </a:r>
            <a:r>
              <a:rPr lang="en-US"/>
              <a:t> </a:t>
            </a:r>
            <a:r>
              <a:rPr lang="en-US" err="1"/>
              <a:t>takip</a:t>
            </a:r>
            <a:r>
              <a:rPr lang="en-US"/>
              <a:t> </a:t>
            </a:r>
            <a:r>
              <a:rPr lang="en-US" err="1"/>
              <a:t>ve</a:t>
            </a:r>
            <a:r>
              <a:rPr lang="en-US"/>
              <a:t> </a:t>
            </a:r>
            <a:r>
              <a:rPr lang="en-US" err="1"/>
              <a:t>analiz</a:t>
            </a:r>
            <a:r>
              <a:rPr lang="en-US"/>
              <a:t> </a:t>
            </a:r>
            <a:r>
              <a:rPr lang="en-US" err="1"/>
              <a:t>eden</a:t>
            </a:r>
            <a:r>
              <a:rPr lang="en-US"/>
              <a:t> </a:t>
            </a:r>
            <a:r>
              <a:rPr lang="en-US" err="1"/>
              <a:t>bir</a:t>
            </a:r>
            <a:r>
              <a:rPr lang="en-US"/>
              <a:t> "</a:t>
            </a:r>
            <a:r>
              <a:rPr lang="en-US" err="1"/>
              <a:t>Yapay</a:t>
            </a:r>
            <a:r>
              <a:rPr lang="en-US"/>
              <a:t> Zeka Su </a:t>
            </a:r>
            <a:r>
              <a:rPr lang="en-US" err="1"/>
              <a:t>Asistanı</a:t>
            </a:r>
            <a:r>
              <a:rPr lang="en-US"/>
              <a:t>" </a:t>
            </a:r>
            <a:r>
              <a:rPr lang="en-US" err="1"/>
              <a:t>geliştirilmesidir.Bu</a:t>
            </a:r>
            <a:r>
              <a:rPr lang="en-US"/>
              <a:t> </a:t>
            </a:r>
            <a:r>
              <a:rPr lang="en-US" err="1"/>
              <a:t>şekilde</a:t>
            </a:r>
            <a:r>
              <a:rPr lang="en-US"/>
              <a:t> </a:t>
            </a:r>
            <a:r>
              <a:rPr lang="en-US" err="1"/>
              <a:t>bireylerin</a:t>
            </a:r>
            <a:r>
              <a:rPr lang="en-US"/>
              <a:t> </a:t>
            </a:r>
            <a:r>
              <a:rPr lang="en-US" err="1"/>
              <a:t>su</a:t>
            </a:r>
            <a:r>
              <a:rPr lang="en-US"/>
              <a:t> </a:t>
            </a:r>
            <a:r>
              <a:rPr lang="en-US" err="1"/>
              <a:t>tüketiminde</a:t>
            </a:r>
            <a:r>
              <a:rPr lang="en-US"/>
              <a:t> </a:t>
            </a:r>
            <a:r>
              <a:rPr lang="en-US" err="1"/>
              <a:t>bilinçli</a:t>
            </a:r>
            <a:r>
              <a:rPr lang="en-US"/>
              <a:t> </a:t>
            </a:r>
            <a:r>
              <a:rPr lang="en-US" err="1"/>
              <a:t>kullanıcı</a:t>
            </a:r>
            <a:r>
              <a:rPr lang="en-US"/>
              <a:t> </a:t>
            </a:r>
            <a:r>
              <a:rPr lang="en-US" err="1"/>
              <a:t>olmalarını</a:t>
            </a:r>
            <a:r>
              <a:rPr lang="en-US"/>
              <a:t> </a:t>
            </a:r>
            <a:r>
              <a:rPr lang="en-US" err="1"/>
              <a:t>sağlamak</a:t>
            </a:r>
            <a:r>
              <a:rPr lang="en-US"/>
              <a:t> </a:t>
            </a:r>
            <a:r>
              <a:rPr lang="en-US" err="1"/>
              <a:t>temel</a:t>
            </a:r>
            <a:r>
              <a:rPr lang="en-US"/>
              <a:t> </a:t>
            </a:r>
            <a:r>
              <a:rPr lang="en-US" err="1"/>
              <a:t>hedeftir</a:t>
            </a:r>
            <a:r>
              <a:rPr lang="en-US"/>
              <a:t>. </a:t>
            </a:r>
          </a:p>
        </p:txBody>
      </p:sp>
    </p:spTree>
    <p:extLst>
      <p:ext uri="{BB962C8B-B14F-4D97-AF65-F5344CB8AC3E}">
        <p14:creationId xmlns:p14="http://schemas.microsoft.com/office/powerpoint/2010/main" val="4123473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BA9A-33FA-A94B-E25D-43BAE2298E91}"/>
              </a:ext>
            </a:extLst>
          </p:cNvPr>
          <p:cNvSpPr>
            <a:spLocks noGrp="1"/>
          </p:cNvSpPr>
          <p:nvPr>
            <p:ph type="title"/>
          </p:nvPr>
        </p:nvSpPr>
        <p:spPr/>
        <p:txBody>
          <a:bodyPr/>
          <a:lstStyle/>
          <a:p>
            <a:r>
              <a:rPr lang="en-US" err="1"/>
              <a:t>Projenin</a:t>
            </a:r>
            <a:r>
              <a:rPr lang="en-US"/>
              <a:t> </a:t>
            </a:r>
            <a:r>
              <a:rPr lang="en-US" err="1"/>
              <a:t>Amacı</a:t>
            </a:r>
            <a:r>
              <a:rPr lang="en-US"/>
              <a:t> Nedir?</a:t>
            </a:r>
          </a:p>
        </p:txBody>
      </p:sp>
      <p:sp>
        <p:nvSpPr>
          <p:cNvPr id="3" name="Content Placeholder 2">
            <a:extLst>
              <a:ext uri="{FF2B5EF4-FFF2-40B4-BE49-F238E27FC236}">
                <a16:creationId xmlns:a16="http://schemas.microsoft.com/office/drawing/2014/main" id="{0CDCE5B5-A1BA-BE51-5AC0-D4E26E7D564D}"/>
              </a:ext>
            </a:extLst>
          </p:cNvPr>
          <p:cNvSpPr>
            <a:spLocks noGrp="1"/>
          </p:cNvSpPr>
          <p:nvPr>
            <p:ph idx="1"/>
          </p:nvPr>
        </p:nvSpPr>
        <p:spPr/>
        <p:txBody>
          <a:bodyPr vert="horz" lIns="91440" tIns="45720" rIns="91440" bIns="45720" rtlCol="0" anchor="t">
            <a:normAutofit/>
          </a:bodyPr>
          <a:lstStyle/>
          <a:p>
            <a:r>
              <a:rPr lang="en-US"/>
              <a:t>Bu </a:t>
            </a:r>
            <a:r>
              <a:rPr lang="en-US" err="1"/>
              <a:t>su</a:t>
            </a:r>
            <a:r>
              <a:rPr lang="en-US"/>
              <a:t> </a:t>
            </a:r>
            <a:r>
              <a:rPr lang="en-US" err="1"/>
              <a:t>asistanı</a:t>
            </a:r>
            <a:r>
              <a:rPr lang="en-US"/>
              <a:t> </a:t>
            </a:r>
            <a:r>
              <a:rPr lang="en-US" err="1"/>
              <a:t>ile</a:t>
            </a:r>
            <a:r>
              <a:rPr lang="en-US"/>
              <a:t> </a:t>
            </a:r>
            <a:r>
              <a:rPr lang="en-US" err="1"/>
              <a:t>günlük</a:t>
            </a:r>
            <a:r>
              <a:rPr lang="en-US"/>
              <a:t> </a:t>
            </a:r>
            <a:r>
              <a:rPr lang="en-US" err="1"/>
              <a:t>israf</a:t>
            </a:r>
            <a:r>
              <a:rPr lang="en-US"/>
              <a:t> </a:t>
            </a:r>
            <a:r>
              <a:rPr lang="en-US" err="1"/>
              <a:t>edilen</a:t>
            </a:r>
            <a:r>
              <a:rPr lang="en-US"/>
              <a:t> </a:t>
            </a:r>
            <a:r>
              <a:rPr lang="en-US" err="1"/>
              <a:t>su</a:t>
            </a:r>
            <a:r>
              <a:rPr lang="en-US"/>
              <a:t> </a:t>
            </a:r>
            <a:r>
              <a:rPr lang="en-US" err="1"/>
              <a:t>miktarlarını</a:t>
            </a:r>
            <a:r>
              <a:rPr lang="en-US"/>
              <a:t> </a:t>
            </a:r>
            <a:r>
              <a:rPr lang="en-US" err="1"/>
              <a:t>azaltmayı</a:t>
            </a:r>
            <a:r>
              <a:rPr lang="en-US"/>
              <a:t> </a:t>
            </a:r>
            <a:r>
              <a:rPr lang="en-US" err="1"/>
              <a:t>ve</a:t>
            </a:r>
            <a:r>
              <a:rPr lang="en-US"/>
              <a:t> </a:t>
            </a:r>
            <a:r>
              <a:rPr lang="en-US" err="1"/>
              <a:t>insanları</a:t>
            </a:r>
            <a:r>
              <a:rPr lang="en-US"/>
              <a:t> </a:t>
            </a:r>
            <a:r>
              <a:rPr lang="en-US" err="1"/>
              <a:t>bilinçli</a:t>
            </a:r>
            <a:r>
              <a:rPr lang="en-US"/>
              <a:t> </a:t>
            </a:r>
            <a:r>
              <a:rPr lang="en-US" err="1"/>
              <a:t>bir</a:t>
            </a:r>
            <a:r>
              <a:rPr lang="en-US"/>
              <a:t> </a:t>
            </a:r>
            <a:r>
              <a:rPr lang="en-US" err="1"/>
              <a:t>kullanıcı</a:t>
            </a:r>
            <a:r>
              <a:rPr lang="en-US"/>
              <a:t> </a:t>
            </a:r>
            <a:r>
              <a:rPr lang="en-US" err="1"/>
              <a:t>haline</a:t>
            </a:r>
            <a:r>
              <a:rPr lang="en-US"/>
              <a:t> </a:t>
            </a:r>
            <a:r>
              <a:rPr lang="en-US" err="1"/>
              <a:t>getirerek</a:t>
            </a:r>
            <a:r>
              <a:rPr lang="en-US"/>
              <a:t> </a:t>
            </a:r>
            <a:r>
              <a:rPr lang="en-US" err="1"/>
              <a:t>onlara</a:t>
            </a:r>
            <a:r>
              <a:rPr lang="en-US"/>
              <a:t> </a:t>
            </a:r>
            <a:r>
              <a:rPr lang="en-US" err="1"/>
              <a:t>sürdürülebilir</a:t>
            </a:r>
            <a:r>
              <a:rPr lang="en-US"/>
              <a:t> </a:t>
            </a:r>
            <a:r>
              <a:rPr lang="en-US" err="1"/>
              <a:t>yaşam</a:t>
            </a:r>
            <a:r>
              <a:rPr lang="en-US"/>
              <a:t> </a:t>
            </a:r>
            <a:r>
              <a:rPr lang="en-US" err="1"/>
              <a:t>alışkanlıkları</a:t>
            </a:r>
            <a:r>
              <a:rPr lang="en-US"/>
              <a:t> </a:t>
            </a:r>
            <a:r>
              <a:rPr lang="en-US" err="1"/>
              <a:t>kazandırmayı</a:t>
            </a:r>
            <a:r>
              <a:rPr lang="en-US"/>
              <a:t> </a:t>
            </a:r>
            <a:r>
              <a:rPr lang="en-US" err="1"/>
              <a:t>hedefliyoruz.Bu</a:t>
            </a:r>
            <a:r>
              <a:rPr lang="en-US"/>
              <a:t> </a:t>
            </a:r>
            <a:r>
              <a:rPr lang="en-US" err="1"/>
              <a:t>adım</a:t>
            </a:r>
            <a:r>
              <a:rPr lang="en-US"/>
              <a:t> </a:t>
            </a:r>
            <a:r>
              <a:rPr lang="en-US" err="1"/>
              <a:t>ayrıca</a:t>
            </a:r>
            <a:r>
              <a:rPr lang="en-US"/>
              <a:t> </a:t>
            </a:r>
            <a:r>
              <a:rPr lang="en-US" err="1"/>
              <a:t>gelecekte</a:t>
            </a:r>
            <a:r>
              <a:rPr lang="en-US"/>
              <a:t> </a:t>
            </a:r>
            <a:r>
              <a:rPr lang="en-US" err="1"/>
              <a:t>bizi</a:t>
            </a:r>
            <a:r>
              <a:rPr lang="en-US"/>
              <a:t> </a:t>
            </a:r>
            <a:r>
              <a:rPr lang="en-US" err="1"/>
              <a:t>bekleyen</a:t>
            </a:r>
            <a:r>
              <a:rPr lang="en-US"/>
              <a:t> </a:t>
            </a:r>
            <a:r>
              <a:rPr lang="en-US" err="1"/>
              <a:t>muhtemel</a:t>
            </a:r>
            <a:r>
              <a:rPr lang="en-US"/>
              <a:t> </a:t>
            </a:r>
            <a:r>
              <a:rPr lang="en-US" err="1"/>
              <a:t>su</a:t>
            </a:r>
            <a:r>
              <a:rPr lang="en-US"/>
              <a:t> </a:t>
            </a:r>
            <a:r>
              <a:rPr lang="en-US" err="1"/>
              <a:t>kıtlığının</a:t>
            </a:r>
            <a:r>
              <a:rPr lang="en-US"/>
              <a:t> da </a:t>
            </a:r>
            <a:r>
              <a:rPr lang="en-US" err="1"/>
              <a:t>önüne</a:t>
            </a:r>
            <a:r>
              <a:rPr lang="en-US"/>
              <a:t> </a:t>
            </a:r>
            <a:r>
              <a:rPr lang="en-US" err="1"/>
              <a:t>geçebilmek</a:t>
            </a:r>
            <a:r>
              <a:rPr lang="en-US"/>
              <a:t> </a:t>
            </a:r>
            <a:r>
              <a:rPr lang="en-US" err="1"/>
              <a:t>için</a:t>
            </a:r>
            <a:r>
              <a:rPr lang="en-US"/>
              <a:t> </a:t>
            </a:r>
            <a:r>
              <a:rPr lang="en-US" err="1"/>
              <a:t>temel</a:t>
            </a:r>
            <a:r>
              <a:rPr lang="en-US"/>
              <a:t> </a:t>
            </a:r>
            <a:r>
              <a:rPr lang="en-US" err="1"/>
              <a:t>olarak</a:t>
            </a:r>
            <a:r>
              <a:rPr lang="en-US"/>
              <a:t> </a:t>
            </a:r>
            <a:r>
              <a:rPr lang="en-US" err="1"/>
              <a:t>küçük</a:t>
            </a:r>
            <a:r>
              <a:rPr lang="en-US"/>
              <a:t> </a:t>
            </a:r>
            <a:r>
              <a:rPr lang="en-US" err="1"/>
              <a:t>görünen</a:t>
            </a:r>
            <a:r>
              <a:rPr lang="en-US"/>
              <a:t> </a:t>
            </a:r>
            <a:r>
              <a:rPr lang="en-US" err="1"/>
              <a:t>fakat</a:t>
            </a:r>
            <a:r>
              <a:rPr lang="en-US"/>
              <a:t> </a:t>
            </a:r>
            <a:r>
              <a:rPr lang="en-US" err="1"/>
              <a:t>uygulamada</a:t>
            </a:r>
            <a:r>
              <a:rPr lang="en-US"/>
              <a:t> </a:t>
            </a:r>
            <a:r>
              <a:rPr lang="en-US" err="1"/>
              <a:t>etkilerinin</a:t>
            </a:r>
            <a:r>
              <a:rPr lang="en-US"/>
              <a:t> </a:t>
            </a:r>
            <a:r>
              <a:rPr lang="en-US" err="1"/>
              <a:t>büyük</a:t>
            </a:r>
            <a:r>
              <a:rPr lang="en-US"/>
              <a:t> </a:t>
            </a:r>
            <a:r>
              <a:rPr lang="en-US" err="1"/>
              <a:t>olacağına</a:t>
            </a:r>
            <a:r>
              <a:rPr lang="en-US"/>
              <a:t> </a:t>
            </a:r>
            <a:r>
              <a:rPr lang="en-US" err="1"/>
              <a:t>inandığımız</a:t>
            </a:r>
            <a:r>
              <a:rPr lang="en-US"/>
              <a:t> </a:t>
            </a:r>
            <a:r>
              <a:rPr lang="en-US" err="1"/>
              <a:t>bir</a:t>
            </a:r>
            <a:r>
              <a:rPr lang="en-US"/>
              <a:t> </a:t>
            </a:r>
            <a:r>
              <a:rPr lang="en-US" err="1"/>
              <a:t>proje</a:t>
            </a:r>
            <a:r>
              <a:rPr lang="en-US"/>
              <a:t>. </a:t>
            </a:r>
            <a:r>
              <a:rPr lang="en-US" err="1"/>
              <a:t>Yapay</a:t>
            </a:r>
            <a:r>
              <a:rPr lang="en-US"/>
              <a:t> Zeka Su </a:t>
            </a:r>
            <a:r>
              <a:rPr lang="en-US" err="1"/>
              <a:t>Asistanı</a:t>
            </a:r>
            <a:r>
              <a:rPr lang="en-US"/>
              <a:t> </a:t>
            </a:r>
            <a:r>
              <a:rPr lang="en-US" err="1"/>
              <a:t>kullanıcı</a:t>
            </a:r>
            <a:r>
              <a:rPr lang="en-US"/>
              <a:t> </a:t>
            </a:r>
            <a:r>
              <a:rPr lang="en-US" err="1"/>
              <a:t>girişleri</a:t>
            </a:r>
            <a:r>
              <a:rPr lang="en-US"/>
              <a:t> </a:t>
            </a:r>
            <a:r>
              <a:rPr lang="en-US" err="1"/>
              <a:t>üzerinden</a:t>
            </a:r>
            <a:r>
              <a:rPr lang="en-US"/>
              <a:t> </a:t>
            </a:r>
            <a:r>
              <a:rPr lang="en-US" err="1"/>
              <a:t>günlük</a:t>
            </a:r>
            <a:r>
              <a:rPr lang="en-US"/>
              <a:t> </a:t>
            </a:r>
            <a:r>
              <a:rPr lang="en-US" err="1"/>
              <a:t>su</a:t>
            </a:r>
            <a:r>
              <a:rPr lang="en-US"/>
              <a:t> </a:t>
            </a:r>
            <a:r>
              <a:rPr lang="en-US" err="1"/>
              <a:t>tüketimini</a:t>
            </a:r>
            <a:r>
              <a:rPr lang="en-US"/>
              <a:t> </a:t>
            </a:r>
            <a:r>
              <a:rPr lang="en-US" err="1"/>
              <a:t>hesaplayarak</a:t>
            </a:r>
            <a:r>
              <a:rPr lang="en-US"/>
              <a:t> </a:t>
            </a:r>
            <a:r>
              <a:rPr lang="en-US" err="1"/>
              <a:t>kullanıcıya</a:t>
            </a:r>
            <a:r>
              <a:rPr lang="en-US"/>
              <a:t> </a:t>
            </a:r>
            <a:r>
              <a:rPr lang="en-US" err="1"/>
              <a:t>farkındalık</a:t>
            </a:r>
            <a:r>
              <a:rPr lang="en-US"/>
              <a:t> </a:t>
            </a:r>
            <a:r>
              <a:rPr lang="en-US" err="1"/>
              <a:t>kazandırmayı</a:t>
            </a:r>
            <a:r>
              <a:rPr lang="en-US"/>
              <a:t> </a:t>
            </a:r>
            <a:r>
              <a:rPr lang="en-US" err="1"/>
              <a:t>ve</a:t>
            </a:r>
            <a:r>
              <a:rPr lang="en-US"/>
              <a:t> </a:t>
            </a:r>
            <a:r>
              <a:rPr lang="en-US" err="1"/>
              <a:t>onlara</a:t>
            </a:r>
            <a:r>
              <a:rPr lang="en-US"/>
              <a:t> </a:t>
            </a:r>
            <a:r>
              <a:rPr lang="en-US" err="1"/>
              <a:t>su</a:t>
            </a:r>
            <a:r>
              <a:rPr lang="en-US"/>
              <a:t> </a:t>
            </a:r>
            <a:r>
              <a:rPr lang="en-US" err="1"/>
              <a:t>tasarrufu</a:t>
            </a:r>
            <a:r>
              <a:rPr lang="en-US"/>
              <a:t> </a:t>
            </a:r>
            <a:r>
              <a:rPr lang="en-US" err="1"/>
              <a:t>odaklı</a:t>
            </a:r>
            <a:r>
              <a:rPr lang="en-US"/>
              <a:t> </a:t>
            </a:r>
            <a:r>
              <a:rPr lang="en-US" err="1"/>
              <a:t>kullanım</a:t>
            </a:r>
            <a:r>
              <a:rPr lang="en-US"/>
              <a:t> </a:t>
            </a:r>
            <a:r>
              <a:rPr lang="en-US" err="1"/>
              <a:t>planları</a:t>
            </a:r>
            <a:r>
              <a:rPr lang="en-US"/>
              <a:t> </a:t>
            </a:r>
            <a:r>
              <a:rPr lang="en-US" err="1"/>
              <a:t>oluşturmayı</a:t>
            </a:r>
            <a:r>
              <a:rPr lang="en-US"/>
              <a:t> </a:t>
            </a:r>
            <a:r>
              <a:rPr lang="en-US" err="1"/>
              <a:t>hedefler</a:t>
            </a:r>
            <a:r>
              <a:rPr lang="en-US"/>
              <a:t>.</a:t>
            </a:r>
          </a:p>
        </p:txBody>
      </p:sp>
    </p:spTree>
    <p:extLst>
      <p:ext uri="{BB962C8B-B14F-4D97-AF65-F5344CB8AC3E}">
        <p14:creationId xmlns:p14="http://schemas.microsoft.com/office/powerpoint/2010/main" val="2108592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160937A-DC43-46ED-1828-0846E4D8714D}"/>
              </a:ext>
            </a:extLst>
          </p:cNvPr>
          <p:cNvSpPr/>
          <p:nvPr/>
        </p:nvSpPr>
        <p:spPr>
          <a:xfrm>
            <a:off x="346104" y="207662"/>
            <a:ext cx="11590880" cy="6315524"/>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pic>
        <p:nvPicPr>
          <p:cNvPr id="2" name="WhatsApp Video 2025-11-25 at 14.19.16">
            <a:hlinkClick r:id="" action="ppaction://media"/>
            <a:extLst>
              <a:ext uri="{FF2B5EF4-FFF2-40B4-BE49-F238E27FC236}">
                <a16:creationId xmlns:a16="http://schemas.microsoft.com/office/drawing/2014/main" id="{12107ACE-349C-CC67-0979-EC4AFB92D52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219201" y="418072"/>
            <a:ext cx="9753600" cy="5486400"/>
          </a:xfrm>
          <a:prstGeom prst="rect">
            <a:avLst/>
          </a:prstGeom>
        </p:spPr>
      </p:pic>
      <p:sp>
        <p:nvSpPr>
          <p:cNvPr id="6" name="TextBox 5">
            <a:extLst>
              <a:ext uri="{FF2B5EF4-FFF2-40B4-BE49-F238E27FC236}">
                <a16:creationId xmlns:a16="http://schemas.microsoft.com/office/drawing/2014/main" id="{FB39B292-89BA-270E-A182-BBDDBCB0DA68}"/>
              </a:ext>
            </a:extLst>
          </p:cNvPr>
          <p:cNvSpPr txBox="1"/>
          <p:nvPr/>
        </p:nvSpPr>
        <p:spPr>
          <a:xfrm>
            <a:off x="2776549" y="6063955"/>
            <a:ext cx="803600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Runway </a:t>
            </a:r>
            <a:r>
              <a:rPr lang="en-US" sz="1600" b="1" err="1"/>
              <a:t>ile</a:t>
            </a:r>
            <a:r>
              <a:rPr lang="en-US" sz="1600" b="1"/>
              <a:t> </a:t>
            </a:r>
            <a:r>
              <a:rPr lang="en-US" sz="1600" b="1" err="1"/>
              <a:t>su</a:t>
            </a:r>
            <a:r>
              <a:rPr lang="en-US" sz="1600" b="1"/>
              <a:t> </a:t>
            </a:r>
            <a:r>
              <a:rPr lang="en-US" sz="1600" b="1" err="1"/>
              <a:t>israfına</a:t>
            </a:r>
            <a:r>
              <a:rPr lang="en-US" sz="1600" b="1"/>
              <a:t> </a:t>
            </a:r>
            <a:r>
              <a:rPr lang="en-US" sz="1600" b="1" err="1"/>
              <a:t>dikkat</a:t>
            </a:r>
            <a:r>
              <a:rPr lang="en-US" sz="1600" b="1"/>
              <a:t> </a:t>
            </a:r>
            <a:r>
              <a:rPr lang="en-US" sz="1600" b="1" err="1"/>
              <a:t>çekmek</a:t>
            </a:r>
            <a:r>
              <a:rPr lang="en-US" sz="1600" b="1"/>
              <a:t> </a:t>
            </a:r>
            <a:r>
              <a:rPr lang="en-US" sz="1600" b="1" err="1"/>
              <a:t>için</a:t>
            </a:r>
            <a:r>
              <a:rPr lang="en-US" sz="1600" b="1"/>
              <a:t> </a:t>
            </a:r>
            <a:r>
              <a:rPr lang="en-US" sz="1600" b="1" err="1"/>
              <a:t>oluşturduğumuz</a:t>
            </a:r>
            <a:r>
              <a:rPr lang="en-US" sz="1600" b="1"/>
              <a:t> </a:t>
            </a:r>
            <a:r>
              <a:rPr lang="en-US" sz="1600" b="1" err="1"/>
              <a:t>görüntü</a:t>
            </a:r>
            <a:r>
              <a:rPr lang="en-US" sz="1600" b="1"/>
              <a:t>.</a:t>
            </a:r>
          </a:p>
        </p:txBody>
      </p:sp>
    </p:spTree>
    <p:extLst>
      <p:ext uri="{BB962C8B-B14F-4D97-AF65-F5344CB8AC3E}">
        <p14:creationId xmlns:p14="http://schemas.microsoft.com/office/powerpoint/2010/main" val="3610786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8C5F4-E7DD-3023-1128-0ED038967E3D}"/>
              </a:ext>
            </a:extLst>
          </p:cNvPr>
          <p:cNvSpPr>
            <a:spLocks noGrp="1"/>
          </p:cNvSpPr>
          <p:nvPr>
            <p:ph type="title"/>
          </p:nvPr>
        </p:nvSpPr>
        <p:spPr/>
        <p:txBody>
          <a:bodyPr/>
          <a:lstStyle/>
          <a:p>
            <a:r>
              <a:rPr lang="en-US" err="1"/>
              <a:t>Videomuzun</a:t>
            </a:r>
            <a:r>
              <a:rPr lang="en-US"/>
              <a:t> </a:t>
            </a:r>
            <a:r>
              <a:rPr lang="en-US" err="1"/>
              <a:t>Promptu</a:t>
            </a:r>
            <a:r>
              <a:rPr lang="en-US"/>
              <a:t>:</a:t>
            </a:r>
          </a:p>
        </p:txBody>
      </p:sp>
      <p:pic>
        <p:nvPicPr>
          <p:cNvPr id="5" name="Content Placeholder 4" descr="Screens screenshot of a phone&#10;&#10;AI-generated content may be incorrect.">
            <a:extLst>
              <a:ext uri="{FF2B5EF4-FFF2-40B4-BE49-F238E27FC236}">
                <a16:creationId xmlns:a16="http://schemas.microsoft.com/office/drawing/2014/main" id="{A90D0019-CF6D-7433-A429-C3F8595207EB}"/>
              </a:ext>
            </a:extLst>
          </p:cNvPr>
          <p:cNvPicPr>
            <a:picLocks noGrp="1" noChangeAspect="1"/>
          </p:cNvPicPr>
          <p:nvPr>
            <p:ph sz="half" idx="1"/>
          </p:nvPr>
        </p:nvPicPr>
        <p:blipFill>
          <a:blip r:embed="rId2"/>
          <a:stretch>
            <a:fillRect/>
          </a:stretch>
        </p:blipFill>
        <p:spPr>
          <a:xfrm>
            <a:off x="1701524" y="1825625"/>
            <a:ext cx="3003849" cy="4351338"/>
          </a:xfrm>
          <a:prstGeom prst="rect">
            <a:avLst/>
          </a:prstGeom>
        </p:spPr>
      </p:pic>
      <p:sp>
        <p:nvSpPr>
          <p:cNvPr id="4" name="Content Placeholder 3">
            <a:extLst>
              <a:ext uri="{FF2B5EF4-FFF2-40B4-BE49-F238E27FC236}">
                <a16:creationId xmlns:a16="http://schemas.microsoft.com/office/drawing/2014/main" id="{2CD66706-8243-945F-AD0D-5037F1E1A2E3}"/>
              </a:ext>
            </a:extLst>
          </p:cNvPr>
          <p:cNvSpPr>
            <a:spLocks noGrp="1"/>
          </p:cNvSpPr>
          <p:nvPr>
            <p:ph sz="half" idx="2"/>
          </p:nvPr>
        </p:nvSpPr>
        <p:spPr/>
        <p:txBody>
          <a:bodyPr vert="horz" lIns="91440" tIns="45720" rIns="91440" bIns="45720" rtlCol="0" anchor="t">
            <a:normAutofit/>
          </a:bodyPr>
          <a:lstStyle/>
          <a:p>
            <a:r>
              <a:rPr lang="en-US" err="1"/>
              <a:t>Runway'e</a:t>
            </a:r>
            <a:r>
              <a:rPr lang="en-US"/>
              <a:t>  </a:t>
            </a:r>
            <a:r>
              <a:rPr lang="en-US" err="1"/>
              <a:t>videoya</a:t>
            </a:r>
            <a:r>
              <a:rPr lang="en-US"/>
              <a:t> </a:t>
            </a:r>
            <a:r>
              <a:rPr lang="en-US" err="1"/>
              <a:t>dönüştürmesini</a:t>
            </a:r>
            <a:r>
              <a:rPr lang="en-US"/>
              <a:t> </a:t>
            </a:r>
            <a:r>
              <a:rPr lang="en-US" err="1"/>
              <a:t>istediğimiz</a:t>
            </a:r>
            <a:r>
              <a:rPr lang="en-US"/>
              <a:t> </a:t>
            </a:r>
            <a:r>
              <a:rPr lang="en-US" err="1"/>
              <a:t>gölün</a:t>
            </a:r>
            <a:r>
              <a:rPr lang="en-US"/>
              <a:t> </a:t>
            </a:r>
            <a:r>
              <a:rPr lang="en-US" err="1"/>
              <a:t>resmini</a:t>
            </a:r>
            <a:r>
              <a:rPr lang="en-US"/>
              <a:t> </a:t>
            </a:r>
            <a:r>
              <a:rPr lang="en-US" err="1"/>
              <a:t>atarak</a:t>
            </a:r>
            <a:r>
              <a:rPr lang="en-US"/>
              <a:t> </a:t>
            </a:r>
            <a:r>
              <a:rPr lang="en-US" err="1"/>
              <a:t>sonrasında</a:t>
            </a:r>
            <a:r>
              <a:rPr lang="en-US"/>
              <a:t> </a:t>
            </a:r>
            <a:r>
              <a:rPr lang="en-US" err="1"/>
              <a:t>bu</a:t>
            </a:r>
            <a:r>
              <a:rPr lang="en-US"/>
              <a:t> </a:t>
            </a:r>
            <a:r>
              <a:rPr lang="en-US" err="1"/>
              <a:t>gölü</a:t>
            </a:r>
            <a:r>
              <a:rPr lang="en-US"/>
              <a:t> </a:t>
            </a:r>
            <a:r>
              <a:rPr lang="en-US" err="1"/>
              <a:t>kurutmasını</a:t>
            </a:r>
            <a:r>
              <a:rPr lang="en-US"/>
              <a:t> </a:t>
            </a:r>
            <a:r>
              <a:rPr lang="en-US" err="1"/>
              <a:t>istiyoruz</a:t>
            </a:r>
            <a:r>
              <a:rPr lang="en-US"/>
              <a:t>.</a:t>
            </a:r>
          </a:p>
        </p:txBody>
      </p:sp>
    </p:spTree>
    <p:extLst>
      <p:ext uri="{BB962C8B-B14F-4D97-AF65-F5344CB8AC3E}">
        <p14:creationId xmlns:p14="http://schemas.microsoft.com/office/powerpoint/2010/main" val="1821343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86B7DC-9ED5-EFB1-2D77-EC5269D98623}"/>
              </a:ext>
            </a:extLst>
          </p:cNvPr>
          <p:cNvSpPr>
            <a:spLocks noGrp="1"/>
          </p:cNvSpPr>
          <p:nvPr>
            <p:ph type="title"/>
          </p:nvPr>
        </p:nvSpPr>
        <p:spPr/>
        <p:txBody>
          <a:bodyPr/>
          <a:lstStyle/>
          <a:p>
            <a:r>
              <a:rPr lang="tr-TR"/>
              <a:t>Afişimizin </a:t>
            </a:r>
            <a:r>
              <a:rPr lang="tr-TR" err="1"/>
              <a:t>Promptları</a:t>
            </a:r>
            <a:r>
              <a:rPr lang="tr-TR"/>
              <a:t>:</a:t>
            </a:r>
          </a:p>
        </p:txBody>
      </p:sp>
      <p:pic>
        <p:nvPicPr>
          <p:cNvPr id="5" name="İçerik Yer Tutucusu 4" descr="metin, ekran görüntüsü, yazı tipi, işletim sistemi içeren bir resim&#10;&#10;Yapay zeka tarafından oluşturulmuş içerik yanlış olabilir.">
            <a:extLst>
              <a:ext uri="{FF2B5EF4-FFF2-40B4-BE49-F238E27FC236}">
                <a16:creationId xmlns:a16="http://schemas.microsoft.com/office/drawing/2014/main" id="{49FCE6A5-FFB2-25E4-4EB0-96B3D77092EA}"/>
              </a:ext>
            </a:extLst>
          </p:cNvPr>
          <p:cNvPicPr>
            <a:picLocks noGrp="1" noChangeAspect="1"/>
          </p:cNvPicPr>
          <p:nvPr>
            <p:ph sz="half" idx="1"/>
          </p:nvPr>
        </p:nvPicPr>
        <p:blipFill>
          <a:blip r:embed="rId2"/>
          <a:stretch>
            <a:fillRect/>
          </a:stretch>
        </p:blipFill>
        <p:spPr>
          <a:xfrm>
            <a:off x="460248" y="2090323"/>
            <a:ext cx="4365172" cy="1231140"/>
          </a:xfrm>
          <a:prstGeom prst="rect">
            <a:avLst/>
          </a:prstGeom>
        </p:spPr>
      </p:pic>
      <p:pic>
        <p:nvPicPr>
          <p:cNvPr id="6" name="İçerik Yer Tutucusu 5" descr="ağaç, ekran görüntüsü, su, bulut içeren bir resim&#10;&#10;Yapay zeka tarafından oluşturulmuş içerik yanlış olabilir.">
            <a:extLst>
              <a:ext uri="{FF2B5EF4-FFF2-40B4-BE49-F238E27FC236}">
                <a16:creationId xmlns:a16="http://schemas.microsoft.com/office/drawing/2014/main" id="{B515AD15-D87D-EE3D-0715-B9711AEC6C9E}"/>
              </a:ext>
            </a:extLst>
          </p:cNvPr>
          <p:cNvPicPr>
            <a:picLocks noGrp="1" noChangeAspect="1"/>
          </p:cNvPicPr>
          <p:nvPr>
            <p:ph sz="half" idx="2"/>
          </p:nvPr>
        </p:nvPicPr>
        <p:blipFill>
          <a:blip r:embed="rId3"/>
          <a:stretch>
            <a:fillRect/>
          </a:stretch>
        </p:blipFill>
        <p:spPr>
          <a:xfrm>
            <a:off x="457200" y="3681621"/>
            <a:ext cx="4365172" cy="1771459"/>
          </a:xfrm>
          <a:prstGeom prst="rect">
            <a:avLst/>
          </a:prstGeom>
        </p:spPr>
      </p:pic>
      <p:pic>
        <p:nvPicPr>
          <p:cNvPr id="7" name="Resim 6" descr="metin, ekran görüntüsü içeren bir resim&#10;&#10;Yapay zeka tarafından oluşturulmuş içerik yanlış olabilir.">
            <a:extLst>
              <a:ext uri="{FF2B5EF4-FFF2-40B4-BE49-F238E27FC236}">
                <a16:creationId xmlns:a16="http://schemas.microsoft.com/office/drawing/2014/main" id="{F236A28A-4C1E-CD46-1B1C-578247D4B793}"/>
              </a:ext>
            </a:extLst>
          </p:cNvPr>
          <p:cNvPicPr>
            <a:picLocks noChangeAspect="1"/>
          </p:cNvPicPr>
          <p:nvPr/>
        </p:nvPicPr>
        <p:blipFill>
          <a:blip r:embed="rId4"/>
          <a:stretch>
            <a:fillRect/>
          </a:stretch>
        </p:blipFill>
        <p:spPr>
          <a:xfrm>
            <a:off x="5589135" y="1886630"/>
            <a:ext cx="2788104" cy="4347483"/>
          </a:xfrm>
          <a:prstGeom prst="rect">
            <a:avLst/>
          </a:prstGeom>
        </p:spPr>
      </p:pic>
      <p:pic>
        <p:nvPicPr>
          <p:cNvPr id="8" name="Resim 7" descr="metin, ekran görüntüsü, yazı tipi içeren bir resim&#10;&#10;Yapay zeka tarafından oluşturulmuş içerik yanlış olabilir.">
            <a:extLst>
              <a:ext uri="{FF2B5EF4-FFF2-40B4-BE49-F238E27FC236}">
                <a16:creationId xmlns:a16="http://schemas.microsoft.com/office/drawing/2014/main" id="{D8EF7E7E-72F3-7C4D-9A90-1726FBEBA981}"/>
              </a:ext>
            </a:extLst>
          </p:cNvPr>
          <p:cNvPicPr>
            <a:picLocks noChangeAspect="1"/>
          </p:cNvPicPr>
          <p:nvPr/>
        </p:nvPicPr>
        <p:blipFill>
          <a:blip r:embed="rId5"/>
          <a:stretch>
            <a:fillRect/>
          </a:stretch>
        </p:blipFill>
        <p:spPr>
          <a:xfrm>
            <a:off x="8809946" y="1817914"/>
            <a:ext cx="2790825" cy="4484915"/>
          </a:xfrm>
          <a:prstGeom prst="rect">
            <a:avLst/>
          </a:prstGeom>
        </p:spPr>
      </p:pic>
    </p:spTree>
    <p:extLst>
      <p:ext uri="{BB962C8B-B14F-4D97-AF65-F5344CB8AC3E}">
        <p14:creationId xmlns:p14="http://schemas.microsoft.com/office/powerpoint/2010/main" val="270575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B97A-EC93-285A-7BA0-AB4994B41048}"/>
              </a:ext>
            </a:extLst>
          </p:cNvPr>
          <p:cNvSpPr>
            <a:spLocks noGrp="1"/>
          </p:cNvSpPr>
          <p:nvPr>
            <p:ph type="title"/>
          </p:nvPr>
        </p:nvSpPr>
        <p:spPr/>
        <p:txBody>
          <a:bodyPr/>
          <a:lstStyle/>
          <a:p>
            <a:r>
              <a:rPr lang="en-US" b="0">
                <a:ea typeface="+mj-lt"/>
                <a:cs typeface="+mj-lt"/>
              </a:rPr>
              <a:t>Bu </a:t>
            </a:r>
            <a:r>
              <a:rPr lang="en-US" b="0" err="1">
                <a:ea typeface="+mj-lt"/>
                <a:cs typeface="+mj-lt"/>
              </a:rPr>
              <a:t>proje</a:t>
            </a:r>
            <a:r>
              <a:rPr lang="en-US" b="0">
                <a:ea typeface="+mj-lt"/>
                <a:cs typeface="+mj-lt"/>
              </a:rPr>
              <a:t> hangi </a:t>
            </a:r>
            <a:r>
              <a:rPr lang="en-US" b="0" err="1">
                <a:ea typeface="+mj-lt"/>
                <a:cs typeface="+mj-lt"/>
              </a:rPr>
              <a:t>problemi</a:t>
            </a:r>
            <a:r>
              <a:rPr lang="en-US" b="0">
                <a:ea typeface="+mj-lt"/>
                <a:cs typeface="+mj-lt"/>
              </a:rPr>
              <a:t> </a:t>
            </a:r>
            <a:r>
              <a:rPr lang="en-US" b="0" err="1">
                <a:ea typeface="+mj-lt"/>
                <a:cs typeface="+mj-lt"/>
              </a:rPr>
              <a:t>ele</a:t>
            </a:r>
            <a:r>
              <a:rPr lang="en-US" b="0">
                <a:ea typeface="+mj-lt"/>
                <a:cs typeface="+mj-lt"/>
              </a:rPr>
              <a:t> </a:t>
            </a:r>
            <a:r>
              <a:rPr lang="en-US" b="0" err="1">
                <a:ea typeface="+mj-lt"/>
                <a:cs typeface="+mj-lt"/>
              </a:rPr>
              <a:t>alıyor</a:t>
            </a:r>
            <a:r>
              <a:rPr lang="en-US" b="0">
                <a:ea typeface="+mj-lt"/>
                <a:cs typeface="+mj-lt"/>
              </a:rPr>
              <a:t>? </a:t>
            </a:r>
            <a:r>
              <a:rPr lang="en-US" b="0" err="1">
                <a:ea typeface="+mj-lt"/>
                <a:cs typeface="+mj-lt"/>
              </a:rPr>
              <a:t>Projenin</a:t>
            </a:r>
            <a:r>
              <a:rPr lang="en-US" b="0">
                <a:ea typeface="+mj-lt"/>
                <a:cs typeface="+mj-lt"/>
              </a:rPr>
              <a:t> </a:t>
            </a:r>
            <a:r>
              <a:rPr lang="en-US" b="0" err="1">
                <a:ea typeface="+mj-lt"/>
                <a:cs typeface="+mj-lt"/>
              </a:rPr>
              <a:t>önemi</a:t>
            </a:r>
            <a:r>
              <a:rPr lang="en-US" b="0">
                <a:ea typeface="+mj-lt"/>
                <a:cs typeface="+mj-lt"/>
              </a:rPr>
              <a:t> </a:t>
            </a:r>
            <a:r>
              <a:rPr lang="en-US" b="0" err="1">
                <a:ea typeface="+mj-lt"/>
                <a:cs typeface="+mj-lt"/>
              </a:rPr>
              <a:t>nedir</a:t>
            </a:r>
            <a:r>
              <a:rPr lang="en-US" b="0">
                <a:ea typeface="+mj-lt"/>
                <a:cs typeface="+mj-lt"/>
              </a:rPr>
              <a:t>?</a:t>
            </a:r>
            <a:endParaRPr lang="en-US" b="0"/>
          </a:p>
        </p:txBody>
      </p:sp>
      <p:sp>
        <p:nvSpPr>
          <p:cNvPr id="3" name="Content Placeholder 2">
            <a:extLst>
              <a:ext uri="{FF2B5EF4-FFF2-40B4-BE49-F238E27FC236}">
                <a16:creationId xmlns:a16="http://schemas.microsoft.com/office/drawing/2014/main" id="{D7C35F8E-9C18-615D-6F88-560228F5B307}"/>
              </a:ext>
            </a:extLst>
          </p:cNvPr>
          <p:cNvSpPr>
            <a:spLocks noGrp="1"/>
          </p:cNvSpPr>
          <p:nvPr>
            <p:ph idx="1"/>
          </p:nvPr>
        </p:nvSpPr>
        <p:spPr/>
        <p:txBody>
          <a:bodyPr vert="horz" lIns="91440" tIns="45720" rIns="91440" bIns="45720" rtlCol="0" anchor="t">
            <a:normAutofit/>
          </a:bodyPr>
          <a:lstStyle/>
          <a:p>
            <a:r>
              <a:rPr lang="en-US"/>
              <a:t>Bir </a:t>
            </a:r>
            <a:r>
              <a:rPr lang="en-US" err="1"/>
              <a:t>önceki</a:t>
            </a:r>
            <a:r>
              <a:rPr lang="en-US"/>
              <a:t> </a:t>
            </a:r>
            <a:r>
              <a:rPr lang="en-US" err="1"/>
              <a:t>sayfada</a:t>
            </a:r>
            <a:r>
              <a:rPr lang="en-US"/>
              <a:t> da </a:t>
            </a:r>
            <a:r>
              <a:rPr lang="en-US" err="1"/>
              <a:t>izlediğimiz</a:t>
            </a:r>
            <a:r>
              <a:rPr lang="en-US"/>
              <a:t> </a:t>
            </a:r>
            <a:r>
              <a:rPr lang="en-US" err="1"/>
              <a:t>gibi</a:t>
            </a:r>
            <a:r>
              <a:rPr lang="en-US"/>
              <a:t> </a:t>
            </a:r>
            <a:r>
              <a:rPr lang="en-US" err="1"/>
              <a:t>temel</a:t>
            </a:r>
            <a:r>
              <a:rPr lang="en-US"/>
              <a:t> </a:t>
            </a:r>
            <a:r>
              <a:rPr lang="en-US" err="1"/>
              <a:t>problemimiz</a:t>
            </a:r>
            <a:r>
              <a:rPr lang="en-US"/>
              <a:t> </a:t>
            </a:r>
            <a:r>
              <a:rPr lang="en-US" err="1"/>
              <a:t>suyun</a:t>
            </a:r>
            <a:r>
              <a:rPr lang="en-US"/>
              <a:t> </a:t>
            </a:r>
            <a:r>
              <a:rPr lang="en-US" err="1"/>
              <a:t>israf</a:t>
            </a:r>
            <a:r>
              <a:rPr lang="en-US"/>
              <a:t> </a:t>
            </a:r>
            <a:r>
              <a:rPr lang="en-US" err="1"/>
              <a:t>edilmesi</a:t>
            </a:r>
            <a:r>
              <a:rPr lang="en-US"/>
              <a:t> </a:t>
            </a:r>
            <a:r>
              <a:rPr lang="en-US" err="1"/>
              <a:t>sonucu</a:t>
            </a:r>
            <a:r>
              <a:rPr lang="en-US"/>
              <a:t> </a:t>
            </a:r>
            <a:r>
              <a:rPr lang="en-US" err="1"/>
              <a:t>su</a:t>
            </a:r>
            <a:r>
              <a:rPr lang="en-US"/>
              <a:t> </a:t>
            </a:r>
            <a:r>
              <a:rPr lang="en-US" err="1"/>
              <a:t>kaynaklarının</a:t>
            </a:r>
            <a:r>
              <a:rPr lang="en-US"/>
              <a:t> </a:t>
            </a:r>
            <a:r>
              <a:rPr lang="en-US" err="1"/>
              <a:t>giderek</a:t>
            </a:r>
            <a:r>
              <a:rPr lang="en-US"/>
              <a:t> </a:t>
            </a:r>
            <a:r>
              <a:rPr lang="en-US" err="1"/>
              <a:t>hızla</a:t>
            </a:r>
            <a:r>
              <a:rPr lang="en-US"/>
              <a:t> </a:t>
            </a:r>
            <a:r>
              <a:rPr lang="en-US" err="1"/>
              <a:t>tükenmesi.Suyun</a:t>
            </a:r>
            <a:r>
              <a:rPr lang="en-US"/>
              <a:t> </a:t>
            </a:r>
            <a:r>
              <a:rPr lang="en-US" err="1"/>
              <a:t>canlı</a:t>
            </a:r>
            <a:r>
              <a:rPr lang="en-US"/>
              <a:t> </a:t>
            </a:r>
            <a:r>
              <a:rPr lang="en-US" err="1"/>
              <a:t>hayatındaki</a:t>
            </a:r>
            <a:r>
              <a:rPr lang="en-US"/>
              <a:t> </a:t>
            </a:r>
            <a:r>
              <a:rPr lang="en-US" err="1"/>
              <a:t>önemi</a:t>
            </a:r>
            <a:r>
              <a:rPr lang="en-US"/>
              <a:t> </a:t>
            </a:r>
            <a:r>
              <a:rPr lang="en-US" err="1"/>
              <a:t>çok</a:t>
            </a:r>
            <a:r>
              <a:rPr lang="en-US"/>
              <a:t> </a:t>
            </a:r>
            <a:r>
              <a:rPr lang="en-US" err="1"/>
              <a:t>büyüktür.İnsanın</a:t>
            </a:r>
            <a:r>
              <a:rPr lang="en-US"/>
              <a:t> </a:t>
            </a:r>
            <a:r>
              <a:rPr lang="en-US" err="1"/>
              <a:t>su</a:t>
            </a:r>
            <a:r>
              <a:rPr lang="en-US"/>
              <a:t> </a:t>
            </a:r>
            <a:r>
              <a:rPr lang="en-US" err="1"/>
              <a:t>olmadan</a:t>
            </a:r>
            <a:r>
              <a:rPr lang="en-US"/>
              <a:t> </a:t>
            </a:r>
            <a:r>
              <a:rPr lang="en-US" err="1"/>
              <a:t>varlığını</a:t>
            </a:r>
            <a:r>
              <a:rPr lang="en-US"/>
              <a:t> </a:t>
            </a:r>
            <a:r>
              <a:rPr lang="en-US" err="1"/>
              <a:t>sürdürmesi</a:t>
            </a:r>
            <a:r>
              <a:rPr lang="en-US"/>
              <a:t> </a:t>
            </a:r>
            <a:r>
              <a:rPr lang="en-US" err="1"/>
              <a:t>imkansıza</a:t>
            </a:r>
            <a:r>
              <a:rPr lang="en-US"/>
              <a:t> </a:t>
            </a:r>
            <a:r>
              <a:rPr lang="en-US" err="1"/>
              <a:t>yakındır</a:t>
            </a:r>
            <a:r>
              <a:rPr lang="en-US"/>
              <a:t>. Bu </a:t>
            </a:r>
            <a:r>
              <a:rPr lang="en-US" err="1"/>
              <a:t>yüzden</a:t>
            </a:r>
            <a:r>
              <a:rPr lang="en-US"/>
              <a:t> </a:t>
            </a:r>
            <a:r>
              <a:rPr lang="en-US" err="1"/>
              <a:t>kaynak</a:t>
            </a:r>
            <a:r>
              <a:rPr lang="en-US"/>
              <a:t> </a:t>
            </a:r>
            <a:r>
              <a:rPr lang="en-US" err="1"/>
              <a:t>sularının</a:t>
            </a:r>
            <a:r>
              <a:rPr lang="en-US"/>
              <a:t> </a:t>
            </a:r>
            <a:r>
              <a:rPr lang="en-US" err="1"/>
              <a:t>hızla</a:t>
            </a:r>
            <a:r>
              <a:rPr lang="en-US"/>
              <a:t> </a:t>
            </a:r>
            <a:r>
              <a:rPr lang="en-US" err="1"/>
              <a:t>tükenmesi,bilinçsiz</a:t>
            </a:r>
            <a:r>
              <a:rPr lang="en-US"/>
              <a:t> </a:t>
            </a:r>
            <a:r>
              <a:rPr lang="en-US" err="1"/>
              <a:t>su</a:t>
            </a:r>
            <a:r>
              <a:rPr lang="en-US"/>
              <a:t> </a:t>
            </a:r>
            <a:r>
              <a:rPr lang="en-US" err="1"/>
              <a:t>tüketimi</a:t>
            </a:r>
            <a:r>
              <a:rPr lang="en-US"/>
              <a:t> </a:t>
            </a:r>
            <a:r>
              <a:rPr lang="en-US" err="1"/>
              <a:t>ve</a:t>
            </a:r>
            <a:r>
              <a:rPr lang="en-US"/>
              <a:t> </a:t>
            </a:r>
            <a:r>
              <a:rPr lang="en-US" err="1"/>
              <a:t>su</a:t>
            </a:r>
            <a:r>
              <a:rPr lang="en-US"/>
              <a:t> </a:t>
            </a:r>
            <a:r>
              <a:rPr lang="en-US" err="1"/>
              <a:t>kıtlığının</a:t>
            </a:r>
            <a:r>
              <a:rPr lang="en-US"/>
              <a:t> </a:t>
            </a:r>
            <a:r>
              <a:rPr lang="en-US" err="1"/>
              <a:t>artması</a:t>
            </a:r>
            <a:r>
              <a:rPr lang="en-US"/>
              <a:t> </a:t>
            </a:r>
            <a:r>
              <a:rPr lang="en-US" err="1"/>
              <a:t>konularında</a:t>
            </a:r>
            <a:r>
              <a:rPr lang="en-US"/>
              <a:t> </a:t>
            </a:r>
            <a:r>
              <a:rPr lang="en-US" err="1"/>
              <a:t>bir</a:t>
            </a:r>
            <a:r>
              <a:rPr lang="en-US"/>
              <a:t> </a:t>
            </a:r>
            <a:r>
              <a:rPr lang="en-US" err="1"/>
              <a:t>şeylerin</a:t>
            </a:r>
            <a:r>
              <a:rPr lang="en-US"/>
              <a:t> </a:t>
            </a:r>
            <a:r>
              <a:rPr lang="en-US" err="1"/>
              <a:t>yapılması</a:t>
            </a:r>
            <a:r>
              <a:rPr lang="en-US"/>
              <a:t> </a:t>
            </a:r>
            <a:r>
              <a:rPr lang="en-US" err="1"/>
              <a:t>zorunlu</a:t>
            </a:r>
            <a:r>
              <a:rPr lang="en-US"/>
              <a:t> </a:t>
            </a:r>
            <a:r>
              <a:rPr lang="en-US" err="1"/>
              <a:t>haldedir</a:t>
            </a:r>
            <a:r>
              <a:rPr lang="en-US"/>
              <a:t>. </a:t>
            </a:r>
            <a:r>
              <a:rPr lang="en-US" err="1"/>
              <a:t>Proje</a:t>
            </a:r>
            <a:r>
              <a:rPr lang="en-US"/>
              <a:t> tam da </a:t>
            </a:r>
            <a:r>
              <a:rPr lang="en-US" err="1"/>
              <a:t>bu</a:t>
            </a:r>
            <a:r>
              <a:rPr lang="en-US"/>
              <a:t> </a:t>
            </a:r>
            <a:r>
              <a:rPr lang="en-US" err="1"/>
              <a:t>konuda</a:t>
            </a:r>
            <a:r>
              <a:rPr lang="en-US"/>
              <a:t>, </a:t>
            </a:r>
            <a:r>
              <a:rPr lang="en-US" err="1"/>
              <a:t>konuya</a:t>
            </a:r>
            <a:r>
              <a:rPr lang="en-US"/>
              <a:t> </a:t>
            </a:r>
            <a:r>
              <a:rPr lang="en-US" err="1"/>
              <a:t>bireyi</a:t>
            </a:r>
            <a:r>
              <a:rPr lang="en-US"/>
              <a:t> </a:t>
            </a:r>
            <a:r>
              <a:rPr lang="en-US" err="1"/>
              <a:t>ele</a:t>
            </a:r>
            <a:r>
              <a:rPr lang="en-US"/>
              <a:t> </a:t>
            </a:r>
            <a:r>
              <a:rPr lang="en-US" err="1"/>
              <a:t>alarak</a:t>
            </a:r>
            <a:r>
              <a:rPr lang="en-US"/>
              <a:t> </a:t>
            </a:r>
            <a:r>
              <a:rPr lang="en-US" err="1"/>
              <a:t>başlıyor</a:t>
            </a:r>
            <a:r>
              <a:rPr lang="en-US"/>
              <a:t>. </a:t>
            </a:r>
            <a:r>
              <a:rPr lang="en-US" err="1"/>
              <a:t>Bireylerin</a:t>
            </a:r>
            <a:r>
              <a:rPr lang="en-US"/>
              <a:t> </a:t>
            </a:r>
            <a:r>
              <a:rPr lang="en-US" err="1"/>
              <a:t>bilinçlenmesi</a:t>
            </a:r>
            <a:r>
              <a:rPr lang="en-US"/>
              <a:t> </a:t>
            </a:r>
            <a:r>
              <a:rPr lang="en-US" err="1"/>
              <a:t>su</a:t>
            </a:r>
            <a:r>
              <a:rPr lang="en-US"/>
              <a:t> </a:t>
            </a:r>
            <a:r>
              <a:rPr lang="en-US" err="1"/>
              <a:t>israfı</a:t>
            </a:r>
            <a:r>
              <a:rPr lang="en-US"/>
              <a:t> </a:t>
            </a:r>
            <a:r>
              <a:rPr lang="en-US" err="1"/>
              <a:t>konusundaki</a:t>
            </a:r>
            <a:r>
              <a:rPr lang="en-US"/>
              <a:t> </a:t>
            </a:r>
            <a:r>
              <a:rPr lang="en-US" err="1"/>
              <a:t>ilerlemelerin</a:t>
            </a:r>
            <a:r>
              <a:rPr lang="en-US"/>
              <a:t> </a:t>
            </a:r>
            <a:r>
              <a:rPr lang="en-US" err="1"/>
              <a:t>yapı</a:t>
            </a:r>
            <a:r>
              <a:rPr lang="en-US"/>
              <a:t> </a:t>
            </a:r>
            <a:r>
              <a:rPr lang="en-US" err="1"/>
              <a:t>taşını</a:t>
            </a:r>
            <a:r>
              <a:rPr lang="en-US"/>
              <a:t> </a:t>
            </a:r>
            <a:r>
              <a:rPr lang="en-US" err="1"/>
              <a:t>oluşturuyor.Her</a:t>
            </a:r>
            <a:r>
              <a:rPr lang="en-US"/>
              <a:t> </a:t>
            </a:r>
            <a:r>
              <a:rPr lang="en-US" err="1"/>
              <a:t>bireyin</a:t>
            </a:r>
            <a:r>
              <a:rPr lang="en-US"/>
              <a:t> </a:t>
            </a:r>
            <a:r>
              <a:rPr lang="en-US" err="1"/>
              <a:t>ettiği</a:t>
            </a:r>
            <a:r>
              <a:rPr lang="en-US"/>
              <a:t> </a:t>
            </a:r>
            <a:r>
              <a:rPr lang="en-US" err="1"/>
              <a:t>su</a:t>
            </a:r>
            <a:r>
              <a:rPr lang="en-US"/>
              <a:t> </a:t>
            </a:r>
            <a:r>
              <a:rPr lang="en-US" err="1"/>
              <a:t>tasarrufu</a:t>
            </a:r>
            <a:r>
              <a:rPr lang="en-US"/>
              <a:t> </a:t>
            </a:r>
            <a:r>
              <a:rPr lang="en-US" err="1"/>
              <a:t>aslında</a:t>
            </a:r>
            <a:r>
              <a:rPr lang="en-US"/>
              <a:t> </a:t>
            </a:r>
            <a:r>
              <a:rPr lang="en-US" err="1"/>
              <a:t>uzun</a:t>
            </a:r>
            <a:r>
              <a:rPr lang="en-US"/>
              <a:t> </a:t>
            </a:r>
            <a:r>
              <a:rPr lang="en-US" err="1"/>
              <a:t>vadede</a:t>
            </a:r>
            <a:r>
              <a:rPr lang="en-US"/>
              <a:t> </a:t>
            </a:r>
            <a:r>
              <a:rPr lang="en-US" err="1"/>
              <a:t>toplumsal</a:t>
            </a:r>
            <a:r>
              <a:rPr lang="en-US"/>
              <a:t> </a:t>
            </a:r>
            <a:r>
              <a:rPr lang="en-US" err="1"/>
              <a:t>ölçekte</a:t>
            </a:r>
            <a:r>
              <a:rPr lang="en-US"/>
              <a:t> </a:t>
            </a:r>
            <a:r>
              <a:rPr lang="en-US" err="1"/>
              <a:t>su</a:t>
            </a:r>
            <a:r>
              <a:rPr lang="en-US"/>
              <a:t> </a:t>
            </a:r>
            <a:r>
              <a:rPr lang="en-US" err="1"/>
              <a:t>tasarruflarına</a:t>
            </a:r>
            <a:r>
              <a:rPr lang="en-US"/>
              <a:t> </a:t>
            </a:r>
            <a:r>
              <a:rPr lang="en-US" err="1"/>
              <a:t>vurulduğu</a:t>
            </a:r>
            <a:r>
              <a:rPr lang="en-US"/>
              <a:t> zaman </a:t>
            </a:r>
            <a:r>
              <a:rPr lang="en-US" err="1"/>
              <a:t>çok</a:t>
            </a:r>
            <a:r>
              <a:rPr lang="en-US"/>
              <a:t> </a:t>
            </a:r>
            <a:r>
              <a:rPr lang="en-US" err="1"/>
              <a:t>büyük</a:t>
            </a:r>
            <a:r>
              <a:rPr lang="en-US"/>
              <a:t> </a:t>
            </a:r>
            <a:r>
              <a:rPr lang="en-US" err="1"/>
              <a:t>sayılara</a:t>
            </a:r>
            <a:r>
              <a:rPr lang="en-US"/>
              <a:t> </a:t>
            </a:r>
            <a:r>
              <a:rPr lang="en-US" err="1"/>
              <a:t>dönüşüyor.Bu</a:t>
            </a:r>
            <a:r>
              <a:rPr lang="en-US"/>
              <a:t> </a:t>
            </a:r>
            <a:r>
              <a:rPr lang="en-US" err="1"/>
              <a:t>yüzden</a:t>
            </a:r>
            <a:r>
              <a:rPr lang="en-US"/>
              <a:t> </a:t>
            </a:r>
            <a:r>
              <a:rPr lang="en-US" err="1"/>
              <a:t>az</a:t>
            </a:r>
            <a:r>
              <a:rPr lang="en-US"/>
              <a:t> </a:t>
            </a:r>
            <a:r>
              <a:rPr lang="en-US" err="1"/>
              <a:t>çok</a:t>
            </a:r>
            <a:r>
              <a:rPr lang="en-US"/>
              <a:t> </a:t>
            </a:r>
            <a:r>
              <a:rPr lang="en-US" err="1"/>
              <a:t>ayırt</a:t>
            </a:r>
            <a:r>
              <a:rPr lang="en-US"/>
              <a:t> </a:t>
            </a:r>
            <a:r>
              <a:rPr lang="en-US" err="1"/>
              <a:t>etmeksizin</a:t>
            </a:r>
            <a:r>
              <a:rPr lang="en-US"/>
              <a:t> </a:t>
            </a:r>
            <a:r>
              <a:rPr lang="en-US" err="1"/>
              <a:t>su</a:t>
            </a:r>
            <a:r>
              <a:rPr lang="en-US"/>
              <a:t> </a:t>
            </a:r>
            <a:r>
              <a:rPr lang="en-US" err="1"/>
              <a:t>tasarrufunda</a:t>
            </a:r>
            <a:r>
              <a:rPr lang="en-US"/>
              <a:t> </a:t>
            </a:r>
            <a:r>
              <a:rPr lang="en-US" err="1"/>
              <a:t>bulunmak</a:t>
            </a:r>
            <a:r>
              <a:rPr lang="en-US"/>
              <a:t> </a:t>
            </a:r>
            <a:r>
              <a:rPr lang="en-US" err="1"/>
              <a:t>önemli</a:t>
            </a:r>
            <a:r>
              <a:rPr lang="en-US"/>
              <a:t>. Su </a:t>
            </a:r>
            <a:r>
              <a:rPr lang="en-US" err="1"/>
              <a:t>Asistanı</a:t>
            </a:r>
            <a:r>
              <a:rPr lang="en-US"/>
              <a:t> hem </a:t>
            </a:r>
            <a:r>
              <a:rPr lang="en-US" err="1"/>
              <a:t>bireysel</a:t>
            </a:r>
            <a:r>
              <a:rPr lang="en-US"/>
              <a:t> hem de </a:t>
            </a:r>
            <a:r>
              <a:rPr lang="en-US" err="1"/>
              <a:t>toplumsal</a:t>
            </a:r>
            <a:r>
              <a:rPr lang="en-US"/>
              <a:t> </a:t>
            </a:r>
            <a:r>
              <a:rPr lang="en-US" err="1"/>
              <a:t>ve</a:t>
            </a:r>
            <a:r>
              <a:rPr lang="en-US"/>
              <a:t> </a:t>
            </a:r>
            <a:r>
              <a:rPr lang="en-US" err="1"/>
              <a:t>çevresel</a:t>
            </a:r>
            <a:r>
              <a:rPr lang="en-US"/>
              <a:t> </a:t>
            </a:r>
            <a:r>
              <a:rPr lang="en-US" err="1"/>
              <a:t>düzeyde</a:t>
            </a:r>
            <a:r>
              <a:rPr lang="en-US"/>
              <a:t> </a:t>
            </a:r>
            <a:r>
              <a:rPr lang="en-US" err="1"/>
              <a:t>su</a:t>
            </a:r>
            <a:r>
              <a:rPr lang="en-US"/>
              <a:t> </a:t>
            </a:r>
            <a:r>
              <a:rPr lang="en-US" err="1"/>
              <a:t>israfını</a:t>
            </a:r>
            <a:r>
              <a:rPr lang="en-US"/>
              <a:t> </a:t>
            </a:r>
            <a:r>
              <a:rPr lang="en-US" err="1"/>
              <a:t>ve</a:t>
            </a:r>
            <a:r>
              <a:rPr lang="en-US"/>
              <a:t> </a:t>
            </a:r>
            <a:r>
              <a:rPr lang="en-US" err="1"/>
              <a:t>kıtlığını</a:t>
            </a:r>
            <a:r>
              <a:rPr lang="en-US"/>
              <a:t> </a:t>
            </a:r>
            <a:r>
              <a:rPr lang="en-US" err="1"/>
              <a:t>çözmeyi</a:t>
            </a:r>
            <a:r>
              <a:rPr lang="en-US"/>
              <a:t> </a:t>
            </a:r>
            <a:r>
              <a:rPr lang="en-US" err="1"/>
              <a:t>hedefleyen</a:t>
            </a:r>
            <a:r>
              <a:rPr lang="en-US"/>
              <a:t> </a:t>
            </a:r>
            <a:r>
              <a:rPr lang="en-US" err="1"/>
              <a:t>yenilikçi</a:t>
            </a:r>
            <a:r>
              <a:rPr lang="en-US"/>
              <a:t> </a:t>
            </a:r>
            <a:r>
              <a:rPr lang="en-US" err="1"/>
              <a:t>teknolojik</a:t>
            </a:r>
            <a:r>
              <a:rPr lang="en-US"/>
              <a:t> </a:t>
            </a:r>
            <a:r>
              <a:rPr lang="en-US" err="1"/>
              <a:t>bir</a:t>
            </a:r>
            <a:r>
              <a:rPr lang="en-US"/>
              <a:t> </a:t>
            </a:r>
            <a:r>
              <a:rPr lang="en-US" err="1"/>
              <a:t>çözümdür</a:t>
            </a:r>
            <a:r>
              <a:rPr lang="en-US"/>
              <a:t>.</a:t>
            </a:r>
          </a:p>
        </p:txBody>
      </p:sp>
    </p:spTree>
    <p:extLst>
      <p:ext uri="{BB962C8B-B14F-4D97-AF65-F5344CB8AC3E}">
        <p14:creationId xmlns:p14="http://schemas.microsoft.com/office/powerpoint/2010/main" val="2605171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72A800-29E7-7F2A-88F7-FB868A2162DF}"/>
              </a:ext>
            </a:extLst>
          </p:cNvPr>
          <p:cNvSpPr>
            <a:spLocks noGrp="1"/>
          </p:cNvSpPr>
          <p:nvPr>
            <p:ph idx="1"/>
          </p:nvPr>
        </p:nvSpPr>
        <p:spPr>
          <a:xfrm>
            <a:off x="612647" y="500750"/>
            <a:ext cx="10653579" cy="5808610"/>
          </a:xfrm>
        </p:spPr>
        <p:txBody>
          <a:bodyPr vert="horz" lIns="91440" tIns="45720" rIns="91440" bIns="45720" rtlCol="0" anchor="t">
            <a:normAutofit/>
          </a:bodyPr>
          <a:lstStyle/>
          <a:p>
            <a:r>
              <a:rPr lang="en-US"/>
              <a:t>UN </a:t>
            </a:r>
            <a:r>
              <a:rPr lang="en-US" err="1"/>
              <a:t>Water'ın</a:t>
            </a:r>
            <a:r>
              <a:rPr lang="en-US"/>
              <a:t> "Water Scarcity" </a:t>
            </a:r>
            <a:r>
              <a:rPr lang="en-US" err="1"/>
              <a:t>raporuna</a:t>
            </a:r>
            <a:r>
              <a:rPr lang="en-US"/>
              <a:t> </a:t>
            </a:r>
            <a:r>
              <a:rPr lang="en-US" err="1"/>
              <a:t>göre,su</a:t>
            </a:r>
            <a:r>
              <a:rPr lang="en-US"/>
              <a:t> </a:t>
            </a:r>
            <a:r>
              <a:rPr lang="en-US" err="1"/>
              <a:t>kıtlığı</a:t>
            </a:r>
            <a:r>
              <a:rPr lang="en-US"/>
              <a:t> </a:t>
            </a:r>
            <a:r>
              <a:rPr lang="en-US" err="1"/>
              <a:t>tüm</a:t>
            </a:r>
            <a:r>
              <a:rPr lang="en-US"/>
              <a:t> </a:t>
            </a:r>
            <a:r>
              <a:rPr lang="en-US" err="1"/>
              <a:t>kıtalarda</a:t>
            </a:r>
            <a:r>
              <a:rPr lang="en-US"/>
              <a:t> </a:t>
            </a:r>
            <a:r>
              <a:rPr lang="en-US" err="1"/>
              <a:t>giderek</a:t>
            </a:r>
            <a:r>
              <a:rPr lang="en-US"/>
              <a:t> </a:t>
            </a:r>
            <a:r>
              <a:rPr lang="en-US" err="1"/>
              <a:t>büyüyen</a:t>
            </a:r>
            <a:r>
              <a:rPr lang="en-US"/>
              <a:t> </a:t>
            </a:r>
            <a:r>
              <a:rPr lang="en-US" err="1"/>
              <a:t>bir</a:t>
            </a:r>
            <a:r>
              <a:rPr lang="en-US"/>
              <a:t> </a:t>
            </a:r>
            <a:r>
              <a:rPr lang="en-US" err="1"/>
              <a:t>sorun</a:t>
            </a:r>
            <a:r>
              <a:rPr lang="en-US"/>
              <a:t> </a:t>
            </a:r>
            <a:r>
              <a:rPr lang="en-US" err="1"/>
              <a:t>haline</a:t>
            </a:r>
            <a:r>
              <a:rPr lang="en-US"/>
              <a:t> </a:t>
            </a:r>
            <a:r>
              <a:rPr lang="en-US" err="1"/>
              <a:t>gelmekte</a:t>
            </a:r>
            <a:r>
              <a:rPr lang="en-US"/>
              <a:t> </a:t>
            </a:r>
            <a:r>
              <a:rPr lang="en-US" err="1"/>
              <a:t>ve</a:t>
            </a:r>
            <a:r>
              <a:rPr lang="en-US"/>
              <a:t> </a:t>
            </a:r>
            <a:r>
              <a:rPr lang="en-US" err="1"/>
              <a:t>tatlı</a:t>
            </a:r>
            <a:r>
              <a:rPr lang="en-US"/>
              <a:t> </a:t>
            </a:r>
            <a:r>
              <a:rPr lang="en-US" err="1"/>
              <a:t>su</a:t>
            </a:r>
            <a:r>
              <a:rPr lang="en-US"/>
              <a:t> </a:t>
            </a:r>
            <a:r>
              <a:rPr lang="en-US" err="1"/>
              <a:t>kaynakları</a:t>
            </a:r>
            <a:r>
              <a:rPr lang="en-US"/>
              <a:t> her </a:t>
            </a:r>
            <a:r>
              <a:rPr lang="en-US" err="1"/>
              <a:t>geçen</a:t>
            </a:r>
            <a:r>
              <a:rPr lang="en-US"/>
              <a:t> </a:t>
            </a:r>
            <a:r>
              <a:rPr lang="en-US" err="1"/>
              <a:t>yıl</a:t>
            </a:r>
            <a:r>
              <a:rPr lang="en-US"/>
              <a:t> </a:t>
            </a:r>
            <a:r>
              <a:rPr lang="en-US" err="1"/>
              <a:t>daha</a:t>
            </a:r>
            <a:r>
              <a:rPr lang="en-US"/>
              <a:t> da </a:t>
            </a:r>
            <a:r>
              <a:rPr lang="en-US" err="1"/>
              <a:t>azalmaktadır</a:t>
            </a:r>
            <a:r>
              <a:rPr lang="en-US"/>
              <a:t>. Türkiye </a:t>
            </a:r>
            <a:r>
              <a:rPr lang="en-US" err="1"/>
              <a:t>açısından</a:t>
            </a:r>
            <a:r>
              <a:rPr lang="en-US"/>
              <a:t> </a:t>
            </a:r>
            <a:r>
              <a:rPr lang="en-US" err="1"/>
              <a:t>bakıldığında</a:t>
            </a:r>
            <a:r>
              <a:rPr lang="en-US"/>
              <a:t> </a:t>
            </a:r>
            <a:r>
              <a:rPr lang="en-US" err="1"/>
              <a:t>ise</a:t>
            </a:r>
            <a:r>
              <a:rPr lang="en-US"/>
              <a:t> </a:t>
            </a:r>
            <a:r>
              <a:rPr lang="en-US" err="1"/>
              <a:t>ülke</a:t>
            </a:r>
            <a:r>
              <a:rPr lang="en-US"/>
              <a:t> </a:t>
            </a:r>
            <a:r>
              <a:rPr lang="en-US" err="1"/>
              <a:t>coğrafi</a:t>
            </a:r>
            <a:r>
              <a:rPr lang="en-US"/>
              <a:t> </a:t>
            </a:r>
            <a:r>
              <a:rPr lang="en-US" err="1"/>
              <a:t>özellikleri</a:t>
            </a:r>
            <a:r>
              <a:rPr lang="en-US"/>
              <a:t> </a:t>
            </a:r>
            <a:r>
              <a:rPr lang="en-US" err="1"/>
              <a:t>gereği</a:t>
            </a:r>
            <a:r>
              <a:rPr lang="en-US"/>
              <a:t> "</a:t>
            </a:r>
            <a:r>
              <a:rPr lang="en-US" err="1"/>
              <a:t>su</a:t>
            </a:r>
            <a:r>
              <a:rPr lang="en-US"/>
              <a:t> </a:t>
            </a:r>
            <a:r>
              <a:rPr lang="en-US" err="1"/>
              <a:t>zengini</a:t>
            </a:r>
            <a:r>
              <a:rPr lang="en-US"/>
              <a:t>" </a:t>
            </a:r>
            <a:r>
              <a:rPr lang="en-US" err="1"/>
              <a:t>değil</a:t>
            </a:r>
            <a:r>
              <a:rPr lang="en-US"/>
              <a:t> </a:t>
            </a:r>
            <a:r>
              <a:rPr lang="en-US" err="1"/>
              <a:t>tersine</a:t>
            </a:r>
            <a:r>
              <a:rPr lang="en-US"/>
              <a:t> "</a:t>
            </a:r>
            <a:r>
              <a:rPr lang="en-US" err="1"/>
              <a:t>su</a:t>
            </a:r>
            <a:r>
              <a:rPr lang="en-US"/>
              <a:t> </a:t>
            </a:r>
            <a:r>
              <a:rPr lang="en-US" err="1"/>
              <a:t>stresi</a:t>
            </a:r>
            <a:r>
              <a:rPr lang="en-US"/>
              <a:t> </a:t>
            </a:r>
            <a:r>
              <a:rPr lang="en-US" err="1"/>
              <a:t>altında</a:t>
            </a:r>
            <a:r>
              <a:rPr lang="en-US"/>
              <a:t> </a:t>
            </a:r>
            <a:r>
              <a:rPr lang="en-US" err="1"/>
              <a:t>bulunan</a:t>
            </a:r>
            <a:r>
              <a:rPr lang="en-US"/>
              <a:t>" </a:t>
            </a:r>
            <a:r>
              <a:rPr lang="en-US" err="1"/>
              <a:t>ülkeler</a:t>
            </a:r>
            <a:r>
              <a:rPr lang="en-US"/>
              <a:t> </a:t>
            </a:r>
            <a:r>
              <a:rPr lang="en-US" err="1"/>
              <a:t>arasında</a:t>
            </a:r>
            <a:r>
              <a:rPr lang="en-US"/>
              <a:t> </a:t>
            </a:r>
            <a:r>
              <a:rPr lang="en-US" err="1"/>
              <a:t>değerlendirilmektedir</a:t>
            </a:r>
            <a:r>
              <a:rPr lang="en-US"/>
              <a:t>. </a:t>
            </a:r>
            <a:r>
              <a:rPr lang="en-US" err="1"/>
              <a:t>Türkiye'nin</a:t>
            </a:r>
            <a:r>
              <a:rPr lang="en-US"/>
              <a:t> </a:t>
            </a:r>
            <a:r>
              <a:rPr lang="en-US" err="1"/>
              <a:t>resmi</a:t>
            </a:r>
            <a:r>
              <a:rPr lang="en-US"/>
              <a:t> </a:t>
            </a:r>
            <a:r>
              <a:rPr lang="en-US" err="1"/>
              <a:t>dış</a:t>
            </a:r>
            <a:r>
              <a:rPr lang="en-US"/>
              <a:t> </a:t>
            </a:r>
            <a:r>
              <a:rPr lang="en-US" err="1"/>
              <a:t>politika</a:t>
            </a:r>
            <a:r>
              <a:rPr lang="en-US"/>
              <a:t> </a:t>
            </a:r>
            <a:r>
              <a:rPr lang="en-US" err="1"/>
              <a:t>belgelerine</a:t>
            </a:r>
            <a:r>
              <a:rPr lang="en-US"/>
              <a:t> </a:t>
            </a:r>
            <a:r>
              <a:rPr lang="en-US" err="1"/>
              <a:t>göre</a:t>
            </a:r>
            <a:r>
              <a:rPr lang="en-US"/>
              <a:t>, 1950'li </a:t>
            </a:r>
            <a:r>
              <a:rPr lang="en-US" err="1"/>
              <a:t>yıllarda</a:t>
            </a:r>
            <a:r>
              <a:rPr lang="en-US"/>
              <a:t> </a:t>
            </a:r>
            <a:r>
              <a:rPr lang="en-US" err="1"/>
              <a:t>kişi</a:t>
            </a:r>
            <a:r>
              <a:rPr lang="en-US"/>
              <a:t> </a:t>
            </a:r>
            <a:r>
              <a:rPr lang="en-US" err="1"/>
              <a:t>başına</a:t>
            </a:r>
            <a:r>
              <a:rPr lang="en-US"/>
              <a:t> </a:t>
            </a:r>
            <a:r>
              <a:rPr lang="en-US" err="1"/>
              <a:t>düşen</a:t>
            </a:r>
            <a:r>
              <a:rPr lang="en-US"/>
              <a:t> </a:t>
            </a:r>
            <a:r>
              <a:rPr lang="en-US" err="1"/>
              <a:t>yıllık</a:t>
            </a:r>
            <a:r>
              <a:rPr lang="en-US"/>
              <a:t> </a:t>
            </a:r>
            <a:r>
              <a:rPr lang="en-US" err="1"/>
              <a:t>kullanılabilir</a:t>
            </a:r>
            <a:r>
              <a:rPr lang="en-US"/>
              <a:t> </a:t>
            </a:r>
            <a:r>
              <a:rPr lang="en-US" err="1"/>
              <a:t>tatlı</a:t>
            </a:r>
            <a:r>
              <a:rPr lang="en-US"/>
              <a:t> </a:t>
            </a:r>
            <a:r>
              <a:rPr lang="en-US" err="1"/>
              <a:t>su</a:t>
            </a:r>
            <a:r>
              <a:rPr lang="en-US"/>
              <a:t> </a:t>
            </a:r>
            <a:r>
              <a:rPr lang="en-US" err="1"/>
              <a:t>miktarı</a:t>
            </a:r>
            <a:r>
              <a:rPr lang="en-US"/>
              <a:t> </a:t>
            </a:r>
            <a:r>
              <a:rPr lang="en-US" err="1"/>
              <a:t>yaklaşık</a:t>
            </a:r>
            <a:r>
              <a:rPr lang="en-US"/>
              <a:t> 4.000 m3 </a:t>
            </a:r>
            <a:r>
              <a:rPr lang="en-US" err="1"/>
              <a:t>iken</a:t>
            </a:r>
            <a:r>
              <a:rPr lang="en-US"/>
              <a:t> </a:t>
            </a:r>
            <a:r>
              <a:rPr lang="en-US" err="1"/>
              <a:t>günümüzde</a:t>
            </a:r>
            <a:r>
              <a:rPr lang="en-US"/>
              <a:t> </a:t>
            </a:r>
            <a:r>
              <a:rPr lang="en-US" err="1"/>
              <a:t>bu</a:t>
            </a:r>
            <a:r>
              <a:rPr lang="en-US"/>
              <a:t> </a:t>
            </a:r>
            <a:r>
              <a:rPr lang="en-US" err="1"/>
              <a:t>değer</a:t>
            </a:r>
            <a:r>
              <a:rPr lang="en-US"/>
              <a:t> 1.350 m3 </a:t>
            </a:r>
            <a:r>
              <a:rPr lang="en-US" err="1"/>
              <a:t>civarına</a:t>
            </a:r>
            <a:r>
              <a:rPr lang="en-US"/>
              <a:t> </a:t>
            </a:r>
            <a:r>
              <a:rPr lang="en-US" err="1"/>
              <a:t>kadar</a:t>
            </a:r>
            <a:r>
              <a:rPr lang="en-US"/>
              <a:t> </a:t>
            </a:r>
            <a:r>
              <a:rPr lang="en-US" err="1"/>
              <a:t>düşmüştür</a:t>
            </a:r>
            <a:r>
              <a:rPr lang="en-US"/>
              <a:t>. </a:t>
            </a:r>
            <a:r>
              <a:rPr lang="en-US" err="1"/>
              <a:t>Mevcut</a:t>
            </a:r>
            <a:r>
              <a:rPr lang="en-US"/>
              <a:t> </a:t>
            </a:r>
            <a:r>
              <a:rPr lang="en-US" err="1"/>
              <a:t>su</a:t>
            </a:r>
            <a:r>
              <a:rPr lang="en-US"/>
              <a:t> </a:t>
            </a:r>
            <a:r>
              <a:rPr lang="en-US" err="1"/>
              <a:t>tüketimi</a:t>
            </a:r>
            <a:r>
              <a:rPr lang="en-US"/>
              <a:t> </a:t>
            </a:r>
            <a:r>
              <a:rPr lang="en-US" err="1"/>
              <a:t>eğilimlerini</a:t>
            </a:r>
            <a:r>
              <a:rPr lang="en-US"/>
              <a:t> </a:t>
            </a:r>
            <a:r>
              <a:rPr lang="en-US" err="1"/>
              <a:t>devam</a:t>
            </a:r>
            <a:r>
              <a:rPr lang="en-US"/>
              <a:t> </a:t>
            </a:r>
            <a:r>
              <a:rPr lang="en-US" err="1"/>
              <a:t>etmesi</a:t>
            </a:r>
            <a:r>
              <a:rPr lang="en-US"/>
              <a:t> </a:t>
            </a:r>
            <a:r>
              <a:rPr lang="en-US" err="1"/>
              <a:t>durumunda</a:t>
            </a:r>
            <a:r>
              <a:rPr lang="en-US"/>
              <a:t> </a:t>
            </a:r>
            <a:r>
              <a:rPr lang="en-US" err="1"/>
              <a:t>uzmanlar</a:t>
            </a:r>
            <a:r>
              <a:rPr lang="en-US"/>
              <a:t> </a:t>
            </a:r>
            <a:r>
              <a:rPr lang="en-US" err="1"/>
              <a:t>Türkiye'nin</a:t>
            </a:r>
            <a:r>
              <a:rPr lang="en-US"/>
              <a:t> 2030 </a:t>
            </a:r>
            <a:r>
              <a:rPr lang="en-US" err="1"/>
              <a:t>yılına</a:t>
            </a:r>
            <a:r>
              <a:rPr lang="en-US"/>
              <a:t> </a:t>
            </a:r>
            <a:r>
              <a:rPr lang="en-US" err="1"/>
              <a:t>kadar</a:t>
            </a:r>
            <a:r>
              <a:rPr lang="en-US"/>
              <a:t> "</a:t>
            </a:r>
            <a:r>
              <a:rPr lang="en-US" err="1"/>
              <a:t>su</a:t>
            </a:r>
            <a:r>
              <a:rPr lang="en-US"/>
              <a:t> </a:t>
            </a:r>
            <a:r>
              <a:rPr lang="en-US" err="1"/>
              <a:t>fakiri</a:t>
            </a:r>
            <a:r>
              <a:rPr lang="en-US"/>
              <a:t>" </a:t>
            </a:r>
            <a:r>
              <a:rPr lang="en-US" err="1"/>
              <a:t>ülkeler</a:t>
            </a:r>
            <a:r>
              <a:rPr lang="en-US"/>
              <a:t> </a:t>
            </a:r>
            <a:r>
              <a:rPr lang="en-US" err="1"/>
              <a:t>sınıfına</a:t>
            </a:r>
            <a:r>
              <a:rPr lang="en-US"/>
              <a:t> </a:t>
            </a:r>
            <a:r>
              <a:rPr lang="en-US" err="1"/>
              <a:t>girebileceğini</a:t>
            </a:r>
            <a:r>
              <a:rPr lang="en-US"/>
              <a:t> </a:t>
            </a:r>
            <a:r>
              <a:rPr lang="en-US" err="1"/>
              <a:t>tahmin</a:t>
            </a:r>
            <a:r>
              <a:rPr lang="en-US"/>
              <a:t> </a:t>
            </a:r>
            <a:r>
              <a:rPr lang="en-US" err="1"/>
              <a:t>etmektedir</a:t>
            </a:r>
            <a:r>
              <a:rPr lang="en-US"/>
              <a:t>. Resmi </a:t>
            </a:r>
            <a:r>
              <a:rPr lang="en-US" err="1"/>
              <a:t>kaynaklarda</a:t>
            </a:r>
            <a:r>
              <a:rPr lang="en-US"/>
              <a:t> "</a:t>
            </a:r>
            <a:r>
              <a:rPr lang="en-US" err="1"/>
              <a:t>kişi</a:t>
            </a:r>
            <a:r>
              <a:rPr lang="en-US"/>
              <a:t> </a:t>
            </a:r>
            <a:r>
              <a:rPr lang="en-US" err="1"/>
              <a:t>başına</a:t>
            </a:r>
            <a:r>
              <a:rPr lang="en-US"/>
              <a:t> </a:t>
            </a:r>
            <a:r>
              <a:rPr lang="en-US" err="1"/>
              <a:t>düşen</a:t>
            </a:r>
            <a:r>
              <a:rPr lang="en-US"/>
              <a:t> </a:t>
            </a:r>
            <a:r>
              <a:rPr lang="en-US" err="1"/>
              <a:t>yıllık</a:t>
            </a:r>
            <a:r>
              <a:rPr lang="en-US"/>
              <a:t> </a:t>
            </a:r>
            <a:r>
              <a:rPr lang="en-US" err="1"/>
              <a:t>kullanılabilir</a:t>
            </a:r>
            <a:r>
              <a:rPr lang="en-US"/>
              <a:t> </a:t>
            </a:r>
            <a:r>
              <a:rPr lang="en-US" err="1"/>
              <a:t>tatlı</a:t>
            </a:r>
            <a:r>
              <a:rPr lang="en-US"/>
              <a:t> </a:t>
            </a:r>
            <a:r>
              <a:rPr lang="en-US" err="1"/>
              <a:t>su</a:t>
            </a:r>
            <a:r>
              <a:rPr lang="en-US"/>
              <a:t> </a:t>
            </a:r>
            <a:r>
              <a:rPr lang="en-US" err="1"/>
              <a:t>miktarının</a:t>
            </a:r>
            <a:r>
              <a:rPr lang="en-US"/>
              <a:t> 2030 </a:t>
            </a:r>
            <a:r>
              <a:rPr lang="en-US" err="1"/>
              <a:t>yılına</a:t>
            </a:r>
            <a:r>
              <a:rPr lang="en-US"/>
              <a:t> </a:t>
            </a:r>
            <a:r>
              <a:rPr lang="en-US" err="1"/>
              <a:t>kadar</a:t>
            </a:r>
            <a:r>
              <a:rPr lang="en-US"/>
              <a:t> 1.000 m3/(</a:t>
            </a:r>
            <a:r>
              <a:rPr lang="en-US" err="1"/>
              <a:t>kişi</a:t>
            </a:r>
            <a:r>
              <a:rPr lang="en-US"/>
              <a:t>/</a:t>
            </a:r>
            <a:r>
              <a:rPr lang="en-US" err="1"/>
              <a:t>yıl</a:t>
            </a:r>
            <a:r>
              <a:rPr lang="en-US"/>
              <a:t>) </a:t>
            </a:r>
            <a:r>
              <a:rPr lang="en-US" err="1"/>
              <a:t>altına</a:t>
            </a:r>
            <a:r>
              <a:rPr lang="en-US"/>
              <a:t> </a:t>
            </a:r>
            <a:r>
              <a:rPr lang="en-US" err="1"/>
              <a:t>gerileyebileceği</a:t>
            </a:r>
            <a:r>
              <a:rPr lang="en-US"/>
              <a:t>" </a:t>
            </a:r>
            <a:r>
              <a:rPr lang="en-US" err="1"/>
              <a:t>öngörülmektedir</a:t>
            </a:r>
            <a:r>
              <a:rPr lang="en-US"/>
              <a:t>. </a:t>
            </a:r>
          </a:p>
          <a:p>
            <a:r>
              <a:rPr lang="en-US" err="1"/>
              <a:t>Projemiz</a:t>
            </a:r>
            <a:r>
              <a:rPr lang="en-US"/>
              <a:t> </a:t>
            </a:r>
            <a:r>
              <a:rPr lang="en-US" err="1"/>
              <a:t>bireysel</a:t>
            </a:r>
            <a:r>
              <a:rPr lang="en-US"/>
              <a:t> </a:t>
            </a:r>
            <a:r>
              <a:rPr lang="en-US" err="1"/>
              <a:t>su</a:t>
            </a:r>
            <a:r>
              <a:rPr lang="en-US"/>
              <a:t> </a:t>
            </a:r>
            <a:r>
              <a:rPr lang="en-US" err="1"/>
              <a:t>israfını</a:t>
            </a:r>
            <a:r>
              <a:rPr lang="en-US"/>
              <a:t> </a:t>
            </a:r>
            <a:r>
              <a:rPr lang="en-US" err="1"/>
              <a:t>önlemeyi,tüketim</a:t>
            </a:r>
            <a:r>
              <a:rPr lang="en-US"/>
              <a:t> </a:t>
            </a:r>
            <a:r>
              <a:rPr lang="en-US" err="1"/>
              <a:t>farkındalığı</a:t>
            </a:r>
            <a:r>
              <a:rPr lang="en-US"/>
              <a:t> </a:t>
            </a:r>
            <a:r>
              <a:rPr lang="en-US" err="1"/>
              <a:t>oluşturmayı,kullanıcıların</a:t>
            </a:r>
            <a:r>
              <a:rPr lang="en-US"/>
              <a:t> </a:t>
            </a:r>
            <a:r>
              <a:rPr lang="en-US" err="1"/>
              <a:t>verimli</a:t>
            </a:r>
            <a:r>
              <a:rPr lang="en-US"/>
              <a:t> </a:t>
            </a:r>
            <a:r>
              <a:rPr lang="en-US" err="1"/>
              <a:t>su</a:t>
            </a:r>
            <a:r>
              <a:rPr lang="en-US"/>
              <a:t> </a:t>
            </a:r>
            <a:r>
              <a:rPr lang="en-US" err="1"/>
              <a:t>kullanımı</a:t>
            </a:r>
            <a:r>
              <a:rPr lang="en-US"/>
              <a:t> </a:t>
            </a:r>
            <a:r>
              <a:rPr lang="en-US" err="1"/>
              <a:t>alışkanlıkları</a:t>
            </a:r>
            <a:r>
              <a:rPr lang="en-US"/>
              <a:t> </a:t>
            </a:r>
            <a:r>
              <a:rPr lang="en-US" err="1"/>
              <a:t>geliştirmesini</a:t>
            </a:r>
            <a:r>
              <a:rPr lang="en-US"/>
              <a:t> </a:t>
            </a:r>
            <a:r>
              <a:rPr lang="en-US" err="1"/>
              <a:t>sağlamayı,uzun</a:t>
            </a:r>
            <a:r>
              <a:rPr lang="en-US"/>
              <a:t> </a:t>
            </a:r>
            <a:r>
              <a:rPr lang="en-US" err="1"/>
              <a:t>vadede</a:t>
            </a:r>
            <a:r>
              <a:rPr lang="en-US"/>
              <a:t> </a:t>
            </a:r>
            <a:r>
              <a:rPr lang="en-US" err="1"/>
              <a:t>toplumsal</a:t>
            </a:r>
            <a:r>
              <a:rPr lang="en-US"/>
              <a:t> </a:t>
            </a:r>
            <a:r>
              <a:rPr lang="en-US" err="1"/>
              <a:t>ölçekte</a:t>
            </a:r>
            <a:r>
              <a:rPr lang="en-US"/>
              <a:t> </a:t>
            </a:r>
            <a:r>
              <a:rPr lang="en-US" err="1"/>
              <a:t>su</a:t>
            </a:r>
            <a:r>
              <a:rPr lang="en-US"/>
              <a:t> </a:t>
            </a:r>
            <a:r>
              <a:rPr lang="en-US" err="1"/>
              <a:t>tasarrufuna</a:t>
            </a:r>
            <a:r>
              <a:rPr lang="en-US"/>
              <a:t> </a:t>
            </a:r>
            <a:r>
              <a:rPr lang="en-US" err="1"/>
              <a:t>katkıda</a:t>
            </a:r>
            <a:r>
              <a:rPr lang="en-US"/>
              <a:t> </a:t>
            </a:r>
            <a:r>
              <a:rPr lang="en-US" err="1"/>
              <a:t>bulunmayı</a:t>
            </a:r>
            <a:r>
              <a:rPr lang="en-US"/>
              <a:t> </a:t>
            </a:r>
            <a:r>
              <a:rPr lang="en-US" err="1"/>
              <a:t>amaçlamaktadır</a:t>
            </a:r>
            <a:r>
              <a:rPr lang="en-US"/>
              <a:t>. </a:t>
            </a:r>
            <a:r>
              <a:rPr lang="en-US" err="1"/>
              <a:t>Kısacası</a:t>
            </a:r>
            <a:r>
              <a:rPr lang="en-US"/>
              <a:t> </a:t>
            </a:r>
            <a:r>
              <a:rPr lang="en-US" err="1"/>
              <a:t>Kişisel</a:t>
            </a:r>
            <a:r>
              <a:rPr lang="en-US"/>
              <a:t> Su </a:t>
            </a:r>
            <a:r>
              <a:rPr lang="en-US" err="1"/>
              <a:t>Asistanı</a:t>
            </a:r>
            <a:r>
              <a:rPr lang="en-US"/>
              <a:t> hem </a:t>
            </a:r>
            <a:r>
              <a:rPr lang="en-US" err="1"/>
              <a:t>bireysel</a:t>
            </a:r>
            <a:r>
              <a:rPr lang="en-US"/>
              <a:t> hem </a:t>
            </a:r>
            <a:r>
              <a:rPr lang="en-US" err="1"/>
              <a:t>çevresel</a:t>
            </a:r>
            <a:r>
              <a:rPr lang="en-US"/>
              <a:t> </a:t>
            </a:r>
            <a:r>
              <a:rPr lang="en-US" err="1"/>
              <a:t>düzeyde</a:t>
            </a:r>
            <a:r>
              <a:rPr lang="en-US"/>
              <a:t> </a:t>
            </a:r>
            <a:r>
              <a:rPr lang="en-US" err="1"/>
              <a:t>su</a:t>
            </a:r>
            <a:r>
              <a:rPr lang="en-US"/>
              <a:t> </a:t>
            </a:r>
            <a:r>
              <a:rPr lang="en-US" err="1"/>
              <a:t>kıtlığını</a:t>
            </a:r>
            <a:r>
              <a:rPr lang="en-US"/>
              <a:t> </a:t>
            </a:r>
            <a:r>
              <a:rPr lang="en-US" err="1"/>
              <a:t>çözmeyi</a:t>
            </a:r>
            <a:r>
              <a:rPr lang="en-US"/>
              <a:t> </a:t>
            </a:r>
            <a:r>
              <a:rPr lang="en-US" err="1"/>
              <a:t>hedefleyen</a:t>
            </a:r>
            <a:r>
              <a:rPr lang="en-US"/>
              <a:t> </a:t>
            </a:r>
            <a:r>
              <a:rPr lang="en-US" err="1"/>
              <a:t>yenilikçi</a:t>
            </a:r>
            <a:r>
              <a:rPr lang="en-US"/>
              <a:t> </a:t>
            </a:r>
            <a:r>
              <a:rPr lang="en-US" err="1"/>
              <a:t>bir</a:t>
            </a:r>
            <a:r>
              <a:rPr lang="en-US"/>
              <a:t> </a:t>
            </a:r>
            <a:r>
              <a:rPr lang="en-US" err="1"/>
              <a:t>çözümdür</a:t>
            </a:r>
            <a:r>
              <a:rPr lang="en-US"/>
              <a:t>.</a:t>
            </a:r>
          </a:p>
          <a:p>
            <a:endParaRPr lang="en-US"/>
          </a:p>
          <a:p>
            <a:endParaRPr lang="en-US"/>
          </a:p>
        </p:txBody>
      </p:sp>
    </p:spTree>
    <p:extLst>
      <p:ext uri="{BB962C8B-B14F-4D97-AF65-F5344CB8AC3E}">
        <p14:creationId xmlns:p14="http://schemas.microsoft.com/office/powerpoint/2010/main" val="3468436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15AB9-ED0C-B7F7-A1E5-2B8AFB634D21}"/>
              </a:ext>
            </a:extLst>
          </p:cNvPr>
          <p:cNvSpPr>
            <a:spLocks noGrp="1"/>
          </p:cNvSpPr>
          <p:nvPr>
            <p:ph type="title"/>
          </p:nvPr>
        </p:nvSpPr>
        <p:spPr>
          <a:xfrm>
            <a:off x="406703" y="548640"/>
            <a:ext cx="11513448" cy="1163149"/>
          </a:xfrm>
        </p:spPr>
        <p:txBody>
          <a:bodyPr/>
          <a:lstStyle/>
          <a:p>
            <a:r>
              <a:rPr lang="en-US" sz="2400" err="1"/>
              <a:t>Önceki</a:t>
            </a:r>
            <a:r>
              <a:rPr lang="en-US" sz="2400"/>
              <a:t> Sayfada </a:t>
            </a:r>
            <a:r>
              <a:rPr lang="en-US" sz="2400" err="1"/>
              <a:t>Bahsettiğimiz</a:t>
            </a:r>
            <a:r>
              <a:rPr lang="en-US" sz="2400"/>
              <a:t> </a:t>
            </a:r>
            <a:r>
              <a:rPr lang="en-US" sz="2400" err="1"/>
              <a:t>Verilerden</a:t>
            </a:r>
            <a:r>
              <a:rPr lang="en-US" sz="2400"/>
              <a:t> </a:t>
            </a:r>
            <a:r>
              <a:rPr lang="en-US" sz="2400" err="1"/>
              <a:t>Oluşturduğumuz</a:t>
            </a:r>
            <a:r>
              <a:rPr lang="en-US" sz="2400"/>
              <a:t> Veri </a:t>
            </a:r>
            <a:r>
              <a:rPr lang="en-US" sz="2400" err="1"/>
              <a:t>Grafiklerimiz</a:t>
            </a:r>
            <a:r>
              <a:rPr lang="en-US" sz="2400"/>
              <a:t>:</a:t>
            </a:r>
          </a:p>
        </p:txBody>
      </p:sp>
      <p:pic>
        <p:nvPicPr>
          <p:cNvPr id="5" name="Content Placeholder 4" descr="A graph with a blue line&#10;&#10;AI-generated content may be incorrect.">
            <a:extLst>
              <a:ext uri="{FF2B5EF4-FFF2-40B4-BE49-F238E27FC236}">
                <a16:creationId xmlns:a16="http://schemas.microsoft.com/office/drawing/2014/main" id="{B72EA49E-3B34-1ACD-DFD4-0058A906AEDF}"/>
              </a:ext>
            </a:extLst>
          </p:cNvPr>
          <p:cNvPicPr>
            <a:picLocks noGrp="1" noChangeAspect="1"/>
          </p:cNvPicPr>
          <p:nvPr>
            <p:ph sz="half" idx="1"/>
          </p:nvPr>
        </p:nvPicPr>
        <p:blipFill>
          <a:blip r:embed="rId2"/>
          <a:stretch>
            <a:fillRect/>
          </a:stretch>
        </p:blipFill>
        <p:spPr>
          <a:xfrm>
            <a:off x="478784" y="1506929"/>
            <a:ext cx="11318787" cy="4813676"/>
          </a:xfrm>
          <a:prstGeom prst="rect">
            <a:avLst/>
          </a:prstGeom>
        </p:spPr>
      </p:pic>
    </p:spTree>
    <p:extLst>
      <p:ext uri="{BB962C8B-B14F-4D97-AF65-F5344CB8AC3E}">
        <p14:creationId xmlns:p14="http://schemas.microsoft.com/office/powerpoint/2010/main" val="4170647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computer&#10;&#10;AI-generated content may be incorrect.">
            <a:extLst>
              <a:ext uri="{FF2B5EF4-FFF2-40B4-BE49-F238E27FC236}">
                <a16:creationId xmlns:a16="http://schemas.microsoft.com/office/drawing/2014/main" id="{373F5BC5-3E90-3F6D-6CEE-89C99B97636F}"/>
              </a:ext>
            </a:extLst>
          </p:cNvPr>
          <p:cNvPicPr>
            <a:picLocks noGrp="1" noChangeAspect="1"/>
          </p:cNvPicPr>
          <p:nvPr>
            <p:ph sz="half" idx="2"/>
          </p:nvPr>
        </p:nvPicPr>
        <p:blipFill>
          <a:blip r:embed="rId2"/>
          <a:stretch>
            <a:fillRect/>
          </a:stretch>
        </p:blipFill>
        <p:spPr>
          <a:xfrm>
            <a:off x="5986848" y="2051009"/>
            <a:ext cx="5181600" cy="3663732"/>
          </a:xfrm>
          <a:prstGeom prst="rect">
            <a:avLst/>
          </a:prstGeom>
        </p:spPr>
      </p:pic>
      <p:pic>
        <p:nvPicPr>
          <p:cNvPr id="8" name="Content Placeholder 7" descr="A screenshot of a chat&#10;&#10;AI-generated content may be incorrect.">
            <a:extLst>
              <a:ext uri="{FF2B5EF4-FFF2-40B4-BE49-F238E27FC236}">
                <a16:creationId xmlns:a16="http://schemas.microsoft.com/office/drawing/2014/main" id="{13FB797D-4A3A-99CC-A40A-74F1F6B7B4FB}"/>
              </a:ext>
            </a:extLst>
          </p:cNvPr>
          <p:cNvPicPr>
            <a:picLocks noGrp="1" noChangeAspect="1"/>
          </p:cNvPicPr>
          <p:nvPr>
            <p:ph sz="half" idx="1"/>
          </p:nvPr>
        </p:nvPicPr>
        <p:blipFill>
          <a:blip r:embed="rId3"/>
          <a:stretch>
            <a:fillRect/>
          </a:stretch>
        </p:blipFill>
        <p:spPr>
          <a:xfrm>
            <a:off x="653838" y="2132757"/>
            <a:ext cx="5181600" cy="3510534"/>
          </a:xfrm>
          <a:prstGeom prst="rect">
            <a:avLst/>
          </a:prstGeom>
        </p:spPr>
      </p:pic>
      <p:sp>
        <p:nvSpPr>
          <p:cNvPr id="11" name="TextBox 10">
            <a:extLst>
              <a:ext uri="{FF2B5EF4-FFF2-40B4-BE49-F238E27FC236}">
                <a16:creationId xmlns:a16="http://schemas.microsoft.com/office/drawing/2014/main" id="{8AFF6CCF-9508-752D-FC07-D99790DAE016}"/>
              </a:ext>
            </a:extLst>
          </p:cNvPr>
          <p:cNvSpPr txBox="1"/>
          <p:nvPr/>
        </p:nvSpPr>
        <p:spPr>
          <a:xfrm>
            <a:off x="804117" y="745265"/>
            <a:ext cx="1008517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Grafikleri</a:t>
            </a:r>
            <a:r>
              <a:rPr lang="en-US"/>
              <a:t> </a:t>
            </a:r>
            <a:r>
              <a:rPr lang="en-US" err="1"/>
              <a:t>Çizebilmek</a:t>
            </a:r>
            <a:r>
              <a:rPr lang="en-US"/>
              <a:t> </a:t>
            </a:r>
            <a:r>
              <a:rPr lang="en-US" err="1"/>
              <a:t>İçin</a:t>
            </a:r>
            <a:r>
              <a:rPr lang="en-US"/>
              <a:t> </a:t>
            </a:r>
            <a:r>
              <a:rPr lang="en-US" err="1"/>
              <a:t>Önce</a:t>
            </a:r>
            <a:r>
              <a:rPr lang="en-US"/>
              <a:t> </a:t>
            </a:r>
            <a:r>
              <a:rPr lang="en-US" err="1"/>
              <a:t>Doğruluğundan</a:t>
            </a:r>
            <a:r>
              <a:rPr lang="en-US"/>
              <a:t> Emin </a:t>
            </a:r>
            <a:r>
              <a:rPr lang="en-US" err="1"/>
              <a:t>Olduğumuz</a:t>
            </a:r>
            <a:r>
              <a:rPr lang="en-US"/>
              <a:t> </a:t>
            </a:r>
            <a:r>
              <a:rPr lang="en-US" err="1"/>
              <a:t>Verileri</a:t>
            </a:r>
            <a:r>
              <a:rPr lang="en-US"/>
              <a:t> </a:t>
            </a:r>
            <a:r>
              <a:rPr lang="en-US" err="1"/>
              <a:t>Gemini'a</a:t>
            </a:r>
            <a:r>
              <a:rPr lang="en-US"/>
              <a:t> </a:t>
            </a:r>
            <a:r>
              <a:rPr lang="en-US" err="1"/>
              <a:t>Veriyoruz</a:t>
            </a:r>
            <a:r>
              <a:rPr lang="en-US"/>
              <a:t>.</a:t>
            </a:r>
          </a:p>
        </p:txBody>
      </p:sp>
    </p:spTree>
    <p:extLst>
      <p:ext uri="{BB962C8B-B14F-4D97-AF65-F5344CB8AC3E}">
        <p14:creationId xmlns:p14="http://schemas.microsoft.com/office/powerpoint/2010/main" val="2507077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26F728B1-05BB-0302-9E28-871E92A9A3B0}"/>
              </a:ext>
            </a:extLst>
          </p:cNvPr>
          <p:cNvPicPr>
            <a:picLocks noGrp="1" noChangeAspect="1"/>
          </p:cNvPicPr>
          <p:nvPr>
            <p:ph sz="half" idx="1"/>
          </p:nvPr>
        </p:nvPicPr>
        <p:blipFill>
          <a:blip r:embed="rId2"/>
          <a:stretch>
            <a:fillRect/>
          </a:stretch>
        </p:blipFill>
        <p:spPr>
          <a:xfrm>
            <a:off x="458188" y="165692"/>
            <a:ext cx="5181600" cy="3902392"/>
          </a:xfrm>
          <a:prstGeom prst="rect">
            <a:avLst/>
          </a:prstGeom>
        </p:spPr>
      </p:pic>
      <p:pic>
        <p:nvPicPr>
          <p:cNvPr id="6" name="Content Placeholder 5" descr="A screenshot of a computer&#10;&#10;AI-generated content may be incorrect.">
            <a:extLst>
              <a:ext uri="{FF2B5EF4-FFF2-40B4-BE49-F238E27FC236}">
                <a16:creationId xmlns:a16="http://schemas.microsoft.com/office/drawing/2014/main" id="{7108EDD5-7071-0D4B-5D80-EFDD581E1F6D}"/>
              </a:ext>
            </a:extLst>
          </p:cNvPr>
          <p:cNvPicPr>
            <a:picLocks noGrp="1" noChangeAspect="1"/>
          </p:cNvPicPr>
          <p:nvPr>
            <p:ph sz="half" idx="2"/>
          </p:nvPr>
        </p:nvPicPr>
        <p:blipFill>
          <a:blip r:embed="rId3"/>
          <a:stretch>
            <a:fillRect/>
          </a:stretch>
        </p:blipFill>
        <p:spPr>
          <a:xfrm>
            <a:off x="5822093" y="2351"/>
            <a:ext cx="6365787" cy="3425886"/>
          </a:xfrm>
          <a:prstGeom prst="rect">
            <a:avLst/>
          </a:prstGeom>
        </p:spPr>
      </p:pic>
      <p:pic>
        <p:nvPicPr>
          <p:cNvPr id="7" name="Picture 6">
            <a:extLst>
              <a:ext uri="{FF2B5EF4-FFF2-40B4-BE49-F238E27FC236}">
                <a16:creationId xmlns:a16="http://schemas.microsoft.com/office/drawing/2014/main" id="{668C707A-B9F4-4893-EE51-6F8635700E19}"/>
              </a:ext>
            </a:extLst>
          </p:cNvPr>
          <p:cNvPicPr>
            <a:picLocks noChangeAspect="1"/>
          </p:cNvPicPr>
          <p:nvPr/>
        </p:nvPicPr>
        <p:blipFill>
          <a:blip r:embed="rId4"/>
          <a:stretch>
            <a:fillRect/>
          </a:stretch>
        </p:blipFill>
        <p:spPr>
          <a:xfrm>
            <a:off x="6188674" y="2831346"/>
            <a:ext cx="5838570" cy="4027067"/>
          </a:xfrm>
          <a:prstGeom prst="rect">
            <a:avLst/>
          </a:prstGeom>
        </p:spPr>
      </p:pic>
      <p:sp>
        <p:nvSpPr>
          <p:cNvPr id="8" name="TextBox 7">
            <a:extLst>
              <a:ext uri="{FF2B5EF4-FFF2-40B4-BE49-F238E27FC236}">
                <a16:creationId xmlns:a16="http://schemas.microsoft.com/office/drawing/2014/main" id="{72F09330-C588-DBEC-5EF9-F0077DE9182D}"/>
              </a:ext>
            </a:extLst>
          </p:cNvPr>
          <p:cNvSpPr txBox="1"/>
          <p:nvPr/>
        </p:nvSpPr>
        <p:spPr>
          <a:xfrm>
            <a:off x="668249" y="4516216"/>
            <a:ext cx="469968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Verilerden</a:t>
            </a:r>
            <a:r>
              <a:rPr lang="en-US"/>
              <a:t> </a:t>
            </a:r>
            <a:r>
              <a:rPr lang="en-US" err="1"/>
              <a:t>elde</a:t>
            </a:r>
            <a:r>
              <a:rPr lang="en-US"/>
              <a:t> </a:t>
            </a:r>
            <a:r>
              <a:rPr lang="en-US" err="1"/>
              <a:t>ettiğimiz</a:t>
            </a:r>
            <a:r>
              <a:rPr lang="en-US"/>
              <a:t> </a:t>
            </a:r>
            <a:r>
              <a:rPr lang="en-US" err="1"/>
              <a:t>bilgileri</a:t>
            </a:r>
            <a:r>
              <a:rPr lang="en-US"/>
              <a:t> </a:t>
            </a:r>
            <a:r>
              <a:rPr lang="en-US" err="1"/>
              <a:t>kullanarak</a:t>
            </a:r>
            <a:r>
              <a:rPr lang="en-US"/>
              <a:t> </a:t>
            </a:r>
            <a:r>
              <a:rPr lang="en-US" err="1"/>
              <a:t>konu</a:t>
            </a:r>
            <a:r>
              <a:rPr lang="en-US"/>
              <a:t> </a:t>
            </a:r>
            <a:r>
              <a:rPr lang="en-US" err="1"/>
              <a:t>hakkında</a:t>
            </a:r>
            <a:r>
              <a:rPr lang="en-US"/>
              <a:t> </a:t>
            </a:r>
            <a:r>
              <a:rPr lang="en-US" err="1"/>
              <a:t>veri</a:t>
            </a:r>
            <a:r>
              <a:rPr lang="en-US"/>
              <a:t> </a:t>
            </a:r>
            <a:r>
              <a:rPr lang="en-US" err="1"/>
              <a:t>grafikleri</a:t>
            </a:r>
            <a:r>
              <a:rPr lang="en-US"/>
              <a:t> </a:t>
            </a:r>
            <a:r>
              <a:rPr lang="en-US" err="1"/>
              <a:t>oluşturuyoruz.Bu</a:t>
            </a:r>
            <a:r>
              <a:rPr lang="en-US"/>
              <a:t> </a:t>
            </a:r>
            <a:r>
              <a:rPr lang="en-US" err="1"/>
              <a:t>grafiği</a:t>
            </a:r>
            <a:r>
              <a:rPr lang="en-US"/>
              <a:t> </a:t>
            </a:r>
            <a:r>
              <a:rPr lang="en-US" err="1"/>
              <a:t>kullanılırken</a:t>
            </a:r>
            <a:r>
              <a:rPr lang="en-US"/>
              <a:t> Python </a:t>
            </a:r>
            <a:r>
              <a:rPr lang="en-US" err="1"/>
              <a:t>ve</a:t>
            </a:r>
            <a:r>
              <a:rPr lang="en-US"/>
              <a:t> </a:t>
            </a:r>
            <a:r>
              <a:rPr lang="en-US" err="1"/>
              <a:t>kütüphanesi</a:t>
            </a:r>
            <a:r>
              <a:rPr lang="en-US"/>
              <a:t> Matplotlib </a:t>
            </a:r>
            <a:r>
              <a:rPr lang="en-US" err="1"/>
              <a:t>kullanıyoruz</a:t>
            </a:r>
            <a:r>
              <a:rPr lang="en-US"/>
              <a:t>.</a:t>
            </a:r>
          </a:p>
        </p:txBody>
      </p:sp>
    </p:spTree>
    <p:extLst>
      <p:ext uri="{BB962C8B-B14F-4D97-AF65-F5344CB8AC3E}">
        <p14:creationId xmlns:p14="http://schemas.microsoft.com/office/powerpoint/2010/main" val="2997724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a line&#10;&#10;AI-generated content may be incorrect.">
            <a:extLst>
              <a:ext uri="{FF2B5EF4-FFF2-40B4-BE49-F238E27FC236}">
                <a16:creationId xmlns:a16="http://schemas.microsoft.com/office/drawing/2014/main" id="{20BF1294-4EDA-5002-D052-1B5C47728706}"/>
              </a:ext>
            </a:extLst>
          </p:cNvPr>
          <p:cNvPicPr>
            <a:picLocks noGrp="1" noChangeAspect="1"/>
          </p:cNvPicPr>
          <p:nvPr>
            <p:ph sz="half" idx="1"/>
          </p:nvPr>
        </p:nvPicPr>
        <p:blipFill>
          <a:blip r:embed="rId2"/>
          <a:stretch>
            <a:fillRect/>
          </a:stretch>
        </p:blipFill>
        <p:spPr>
          <a:xfrm>
            <a:off x="612648" y="600155"/>
            <a:ext cx="11089860" cy="5697931"/>
          </a:xfrm>
          <a:prstGeom prst="rect">
            <a:avLst/>
          </a:prstGeom>
        </p:spPr>
      </p:pic>
    </p:spTree>
    <p:extLst>
      <p:ext uri="{BB962C8B-B14F-4D97-AF65-F5344CB8AC3E}">
        <p14:creationId xmlns:p14="http://schemas.microsoft.com/office/powerpoint/2010/main" val="3848033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hat&#10;&#10;AI-generated content may be incorrect.">
            <a:extLst>
              <a:ext uri="{FF2B5EF4-FFF2-40B4-BE49-F238E27FC236}">
                <a16:creationId xmlns:a16="http://schemas.microsoft.com/office/drawing/2014/main" id="{59F88F5A-06BB-5D74-164C-E067182C21F6}"/>
              </a:ext>
            </a:extLst>
          </p:cNvPr>
          <p:cNvPicPr>
            <a:picLocks noGrp="1" noChangeAspect="1"/>
          </p:cNvPicPr>
          <p:nvPr>
            <p:ph sz="half" idx="1"/>
          </p:nvPr>
        </p:nvPicPr>
        <p:blipFill>
          <a:blip r:embed="rId2"/>
          <a:stretch>
            <a:fillRect/>
          </a:stretch>
        </p:blipFill>
        <p:spPr>
          <a:xfrm>
            <a:off x="458189" y="318308"/>
            <a:ext cx="5181600" cy="3216159"/>
          </a:xfrm>
          <a:prstGeom prst="rect">
            <a:avLst/>
          </a:prstGeom>
        </p:spPr>
      </p:pic>
      <p:pic>
        <p:nvPicPr>
          <p:cNvPr id="6" name="Content Placeholder 5">
            <a:extLst>
              <a:ext uri="{FF2B5EF4-FFF2-40B4-BE49-F238E27FC236}">
                <a16:creationId xmlns:a16="http://schemas.microsoft.com/office/drawing/2014/main" id="{062EE0AB-2D24-5849-BABB-FB6317AF9CD0}"/>
              </a:ext>
            </a:extLst>
          </p:cNvPr>
          <p:cNvPicPr>
            <a:picLocks noGrp="1" noChangeAspect="1"/>
          </p:cNvPicPr>
          <p:nvPr>
            <p:ph sz="half" idx="2"/>
          </p:nvPr>
        </p:nvPicPr>
        <p:blipFill>
          <a:blip r:embed="rId3"/>
          <a:stretch>
            <a:fillRect/>
          </a:stretch>
        </p:blipFill>
        <p:spPr>
          <a:xfrm>
            <a:off x="6100119" y="-656"/>
            <a:ext cx="5181600" cy="3390709"/>
          </a:xfrm>
          <a:prstGeom prst="rect">
            <a:avLst/>
          </a:prstGeom>
        </p:spPr>
      </p:pic>
      <p:pic>
        <p:nvPicPr>
          <p:cNvPr id="7" name="Picture 6" descr="A screenshot of a computer code&#10;&#10;AI-generated content may be incorrect.">
            <a:extLst>
              <a:ext uri="{FF2B5EF4-FFF2-40B4-BE49-F238E27FC236}">
                <a16:creationId xmlns:a16="http://schemas.microsoft.com/office/drawing/2014/main" id="{B80EC753-FFAE-5F32-FBA8-DA98B0D2C307}"/>
              </a:ext>
            </a:extLst>
          </p:cNvPr>
          <p:cNvPicPr>
            <a:picLocks noChangeAspect="1"/>
          </p:cNvPicPr>
          <p:nvPr/>
        </p:nvPicPr>
        <p:blipFill>
          <a:blip r:embed="rId4"/>
          <a:stretch>
            <a:fillRect/>
          </a:stretch>
        </p:blipFill>
        <p:spPr>
          <a:xfrm>
            <a:off x="6341475" y="3398109"/>
            <a:ext cx="4946022" cy="3253946"/>
          </a:xfrm>
          <a:prstGeom prst="rect">
            <a:avLst/>
          </a:prstGeom>
        </p:spPr>
      </p:pic>
      <p:sp>
        <p:nvSpPr>
          <p:cNvPr id="8" name="TextBox 7">
            <a:extLst>
              <a:ext uri="{FF2B5EF4-FFF2-40B4-BE49-F238E27FC236}">
                <a16:creationId xmlns:a16="http://schemas.microsoft.com/office/drawing/2014/main" id="{F54AA29A-767A-5269-F9DA-2AACF2FA95AE}"/>
              </a:ext>
            </a:extLst>
          </p:cNvPr>
          <p:cNvSpPr txBox="1"/>
          <p:nvPr/>
        </p:nvSpPr>
        <p:spPr>
          <a:xfrm>
            <a:off x="585514" y="3985621"/>
            <a:ext cx="495711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Yine</a:t>
            </a:r>
            <a:r>
              <a:rPr lang="en-US"/>
              <a:t> </a:t>
            </a:r>
            <a:r>
              <a:rPr lang="en-US" err="1"/>
              <a:t>aynı</a:t>
            </a:r>
            <a:r>
              <a:rPr lang="en-US"/>
              <a:t> </a:t>
            </a:r>
            <a:r>
              <a:rPr lang="en-US" err="1"/>
              <a:t>veri</a:t>
            </a:r>
            <a:r>
              <a:rPr lang="en-US"/>
              <a:t> </a:t>
            </a:r>
            <a:r>
              <a:rPr lang="en-US" err="1"/>
              <a:t>setinden</a:t>
            </a:r>
            <a:r>
              <a:rPr lang="en-US"/>
              <a:t> </a:t>
            </a:r>
            <a:r>
              <a:rPr lang="en-US" err="1"/>
              <a:t>kişi</a:t>
            </a:r>
            <a:r>
              <a:rPr lang="en-US"/>
              <a:t> </a:t>
            </a:r>
            <a:r>
              <a:rPr lang="en-US" err="1"/>
              <a:t>başına</a:t>
            </a:r>
            <a:r>
              <a:rPr lang="en-US"/>
              <a:t> </a:t>
            </a:r>
            <a:r>
              <a:rPr lang="en-US" err="1"/>
              <a:t>çekilen</a:t>
            </a:r>
            <a:r>
              <a:rPr lang="en-US"/>
              <a:t>(</a:t>
            </a:r>
            <a:r>
              <a:rPr lang="en-US" err="1"/>
              <a:t>harcanılan</a:t>
            </a:r>
            <a:r>
              <a:rPr lang="en-US"/>
              <a:t>/</a:t>
            </a:r>
            <a:r>
              <a:rPr lang="en-US" err="1"/>
              <a:t>kullanılan</a:t>
            </a:r>
            <a:r>
              <a:rPr lang="en-US"/>
              <a:t>) </a:t>
            </a:r>
            <a:r>
              <a:rPr lang="en-US" err="1"/>
              <a:t>su</a:t>
            </a:r>
            <a:r>
              <a:rPr lang="en-US"/>
              <a:t> </a:t>
            </a:r>
            <a:r>
              <a:rPr lang="en-US" err="1"/>
              <a:t>miktarı</a:t>
            </a:r>
            <a:r>
              <a:rPr lang="en-US"/>
              <a:t> </a:t>
            </a:r>
            <a:r>
              <a:rPr lang="en-US" err="1"/>
              <a:t>verisini</a:t>
            </a:r>
            <a:r>
              <a:rPr lang="en-US"/>
              <a:t> </a:t>
            </a:r>
            <a:r>
              <a:rPr lang="en-US" err="1"/>
              <a:t>bulup</a:t>
            </a:r>
            <a:r>
              <a:rPr lang="en-US"/>
              <a:t> </a:t>
            </a:r>
            <a:r>
              <a:rPr lang="en-US" err="1"/>
              <a:t>bunu</a:t>
            </a:r>
            <a:r>
              <a:rPr lang="en-US"/>
              <a:t> </a:t>
            </a:r>
            <a:r>
              <a:rPr lang="en-US" err="1"/>
              <a:t>bilgiye</a:t>
            </a:r>
            <a:r>
              <a:rPr lang="en-US"/>
              <a:t> </a:t>
            </a:r>
            <a:r>
              <a:rPr lang="en-US" err="1"/>
              <a:t>çeviriyoruz</a:t>
            </a:r>
            <a:r>
              <a:rPr lang="en-US"/>
              <a:t>. Elde </a:t>
            </a:r>
            <a:r>
              <a:rPr lang="en-US" err="1"/>
              <a:t>ettiğimiz</a:t>
            </a:r>
            <a:r>
              <a:rPr lang="en-US"/>
              <a:t> </a:t>
            </a:r>
            <a:r>
              <a:rPr lang="en-US" err="1"/>
              <a:t>bilgiyi</a:t>
            </a:r>
            <a:r>
              <a:rPr lang="en-US"/>
              <a:t> de </a:t>
            </a:r>
            <a:r>
              <a:rPr lang="en-US" err="1"/>
              <a:t>Python'ın</a:t>
            </a:r>
            <a:r>
              <a:rPr lang="en-US"/>
              <a:t> Matplotlib </a:t>
            </a:r>
            <a:r>
              <a:rPr lang="en-US" err="1"/>
              <a:t>kütüphanesini</a:t>
            </a:r>
            <a:r>
              <a:rPr lang="en-US"/>
              <a:t> </a:t>
            </a:r>
            <a:r>
              <a:rPr lang="en-US" err="1"/>
              <a:t>kullanarak</a:t>
            </a:r>
            <a:r>
              <a:rPr lang="en-US"/>
              <a:t> </a:t>
            </a:r>
            <a:r>
              <a:rPr lang="en-US" err="1"/>
              <a:t>görselleştirirek</a:t>
            </a:r>
            <a:r>
              <a:rPr lang="en-US"/>
              <a:t> </a:t>
            </a:r>
            <a:r>
              <a:rPr lang="en-US" err="1"/>
              <a:t>veri</a:t>
            </a:r>
            <a:r>
              <a:rPr lang="en-US"/>
              <a:t> </a:t>
            </a:r>
            <a:r>
              <a:rPr lang="en-US" err="1"/>
              <a:t>grafiği</a:t>
            </a:r>
            <a:r>
              <a:rPr lang="en-US"/>
              <a:t> </a:t>
            </a:r>
            <a:r>
              <a:rPr lang="en-US" err="1"/>
              <a:t>haline</a:t>
            </a:r>
            <a:r>
              <a:rPr lang="en-US"/>
              <a:t> </a:t>
            </a:r>
            <a:r>
              <a:rPr lang="en-US" err="1"/>
              <a:t>getiriyoruz</a:t>
            </a:r>
            <a:r>
              <a:rPr lang="en-US"/>
              <a:t>.</a:t>
            </a:r>
          </a:p>
        </p:txBody>
      </p:sp>
    </p:spTree>
    <p:extLst>
      <p:ext uri="{BB962C8B-B14F-4D97-AF65-F5344CB8AC3E}">
        <p14:creationId xmlns:p14="http://schemas.microsoft.com/office/powerpoint/2010/main" val="1513575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77C8E-91B4-7045-5C41-4B69AB08290A}"/>
              </a:ext>
            </a:extLst>
          </p:cNvPr>
          <p:cNvSpPr>
            <a:spLocks noGrp="1"/>
          </p:cNvSpPr>
          <p:nvPr>
            <p:ph type="title"/>
          </p:nvPr>
        </p:nvSpPr>
        <p:spPr/>
        <p:txBody>
          <a:bodyPr/>
          <a:lstStyle/>
          <a:p>
            <a:r>
              <a:rPr lang="en-US" sz="2800"/>
              <a:t>TÜİK </a:t>
            </a:r>
            <a:r>
              <a:rPr lang="en-US" sz="2800" err="1"/>
              <a:t>ve</a:t>
            </a:r>
            <a:r>
              <a:rPr lang="en-US" sz="2800"/>
              <a:t> </a:t>
            </a:r>
            <a:r>
              <a:rPr lang="en-US" sz="2800" err="1"/>
              <a:t>DSİ'den</a:t>
            </a:r>
            <a:r>
              <a:rPr lang="en-US" sz="2800"/>
              <a:t> </a:t>
            </a:r>
            <a:r>
              <a:rPr lang="en-US" sz="2800" err="1"/>
              <a:t>Aldığımız</a:t>
            </a:r>
            <a:r>
              <a:rPr lang="en-US" sz="2800"/>
              <a:t> </a:t>
            </a:r>
            <a:r>
              <a:rPr lang="en-US" sz="2800" err="1"/>
              <a:t>Verilerle</a:t>
            </a:r>
            <a:r>
              <a:rPr lang="en-US" sz="2800"/>
              <a:t> </a:t>
            </a:r>
            <a:r>
              <a:rPr lang="en-US" sz="2800" err="1"/>
              <a:t>Oluşturduğumuz</a:t>
            </a:r>
            <a:r>
              <a:rPr lang="en-US" sz="2800"/>
              <a:t> </a:t>
            </a:r>
            <a:r>
              <a:rPr lang="en-US" sz="2800" err="1"/>
              <a:t>Sektörel</a:t>
            </a:r>
            <a:r>
              <a:rPr lang="en-US" sz="2800"/>
              <a:t> Su </a:t>
            </a:r>
            <a:r>
              <a:rPr lang="en-US" sz="2800" err="1"/>
              <a:t>Kullanım</a:t>
            </a:r>
            <a:r>
              <a:rPr lang="en-US" sz="2800"/>
              <a:t> </a:t>
            </a:r>
            <a:r>
              <a:rPr lang="en-US" sz="2800" err="1"/>
              <a:t>Grafiği</a:t>
            </a:r>
            <a:r>
              <a:rPr lang="en-US" sz="2800"/>
              <a:t>:</a:t>
            </a:r>
          </a:p>
        </p:txBody>
      </p:sp>
      <p:pic>
        <p:nvPicPr>
          <p:cNvPr id="5" name="Content Placeholder 4">
            <a:extLst>
              <a:ext uri="{FF2B5EF4-FFF2-40B4-BE49-F238E27FC236}">
                <a16:creationId xmlns:a16="http://schemas.microsoft.com/office/drawing/2014/main" id="{2289B05D-2743-B255-0706-BF011060F47B}"/>
              </a:ext>
            </a:extLst>
          </p:cNvPr>
          <p:cNvPicPr>
            <a:picLocks noGrp="1" noChangeAspect="1"/>
          </p:cNvPicPr>
          <p:nvPr>
            <p:ph sz="half" idx="2"/>
          </p:nvPr>
        </p:nvPicPr>
        <p:blipFill>
          <a:blip r:embed="rId2"/>
          <a:stretch>
            <a:fillRect/>
          </a:stretch>
        </p:blipFill>
        <p:spPr>
          <a:xfrm>
            <a:off x="506897" y="1546574"/>
            <a:ext cx="10946294" cy="4931526"/>
          </a:xfrm>
          <a:prstGeom prst="rect">
            <a:avLst/>
          </a:prstGeom>
        </p:spPr>
      </p:pic>
    </p:spTree>
    <p:extLst>
      <p:ext uri="{BB962C8B-B14F-4D97-AF65-F5344CB8AC3E}">
        <p14:creationId xmlns:p14="http://schemas.microsoft.com/office/powerpoint/2010/main" val="2969368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hat&#10;&#10;AI-generated content may be incorrect.">
            <a:extLst>
              <a:ext uri="{FF2B5EF4-FFF2-40B4-BE49-F238E27FC236}">
                <a16:creationId xmlns:a16="http://schemas.microsoft.com/office/drawing/2014/main" id="{50C4DD7C-7D0C-7274-B636-0C6AAEB2E2AE}"/>
              </a:ext>
            </a:extLst>
          </p:cNvPr>
          <p:cNvPicPr>
            <a:picLocks noGrp="1" noChangeAspect="1"/>
          </p:cNvPicPr>
          <p:nvPr>
            <p:ph sz="half" idx="1"/>
          </p:nvPr>
        </p:nvPicPr>
        <p:blipFill>
          <a:blip r:embed="rId2"/>
          <a:stretch>
            <a:fillRect/>
          </a:stretch>
        </p:blipFill>
        <p:spPr>
          <a:xfrm>
            <a:off x="283135" y="290094"/>
            <a:ext cx="5181600" cy="3272590"/>
          </a:xfrm>
          <a:prstGeom prst="rect">
            <a:avLst/>
          </a:prstGeom>
        </p:spPr>
      </p:pic>
      <p:pic>
        <p:nvPicPr>
          <p:cNvPr id="6" name="Content Placeholder 5" descr="A screenshot of a computer&#10;&#10;AI-generated content may be incorrect.">
            <a:extLst>
              <a:ext uri="{FF2B5EF4-FFF2-40B4-BE49-F238E27FC236}">
                <a16:creationId xmlns:a16="http://schemas.microsoft.com/office/drawing/2014/main" id="{D61D4A3E-C732-0715-C198-C1720D162364}"/>
              </a:ext>
            </a:extLst>
          </p:cNvPr>
          <p:cNvPicPr>
            <a:picLocks noGrp="1" noChangeAspect="1"/>
          </p:cNvPicPr>
          <p:nvPr>
            <p:ph sz="half" idx="2"/>
          </p:nvPr>
        </p:nvPicPr>
        <p:blipFill>
          <a:blip r:embed="rId3"/>
          <a:stretch>
            <a:fillRect/>
          </a:stretch>
        </p:blipFill>
        <p:spPr>
          <a:xfrm>
            <a:off x="5780903" y="291384"/>
            <a:ext cx="5181600" cy="414528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2E560CEC-B012-68DB-7044-6E19A67F7F39}"/>
              </a:ext>
            </a:extLst>
          </p:cNvPr>
          <p:cNvPicPr>
            <a:picLocks noChangeAspect="1"/>
          </p:cNvPicPr>
          <p:nvPr/>
        </p:nvPicPr>
        <p:blipFill>
          <a:blip r:embed="rId4"/>
          <a:stretch>
            <a:fillRect/>
          </a:stretch>
        </p:blipFill>
        <p:spPr>
          <a:xfrm>
            <a:off x="5779051" y="3315729"/>
            <a:ext cx="5422143" cy="3253948"/>
          </a:xfrm>
          <a:prstGeom prst="rect">
            <a:avLst/>
          </a:prstGeom>
        </p:spPr>
      </p:pic>
      <p:sp>
        <p:nvSpPr>
          <p:cNvPr id="8" name="TextBox 7">
            <a:extLst>
              <a:ext uri="{FF2B5EF4-FFF2-40B4-BE49-F238E27FC236}">
                <a16:creationId xmlns:a16="http://schemas.microsoft.com/office/drawing/2014/main" id="{27709823-B818-B6E8-9991-7081B0CEF079}"/>
              </a:ext>
            </a:extLst>
          </p:cNvPr>
          <p:cNvSpPr txBox="1"/>
          <p:nvPr/>
        </p:nvSpPr>
        <p:spPr>
          <a:xfrm>
            <a:off x="910880" y="4278378"/>
            <a:ext cx="431868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Yapay</a:t>
            </a:r>
            <a:r>
              <a:rPr lang="en-US"/>
              <a:t> </a:t>
            </a:r>
            <a:r>
              <a:rPr lang="en-US" err="1"/>
              <a:t>zekanın</a:t>
            </a:r>
            <a:r>
              <a:rPr lang="en-US"/>
              <a:t> </a:t>
            </a:r>
            <a:r>
              <a:rPr lang="en-US" err="1"/>
              <a:t>kaynaktan</a:t>
            </a:r>
            <a:r>
              <a:rPr lang="en-US"/>
              <a:t> </a:t>
            </a:r>
            <a:r>
              <a:rPr lang="en-US" err="1"/>
              <a:t>çektiği</a:t>
            </a:r>
            <a:r>
              <a:rPr lang="en-US"/>
              <a:t> </a:t>
            </a:r>
            <a:r>
              <a:rPr lang="en-US" err="1"/>
              <a:t>verilerin</a:t>
            </a:r>
            <a:r>
              <a:rPr lang="en-US"/>
              <a:t>, </a:t>
            </a:r>
            <a:r>
              <a:rPr lang="en-US" err="1"/>
              <a:t>çubuk</a:t>
            </a:r>
            <a:r>
              <a:rPr lang="en-US"/>
              <a:t> </a:t>
            </a:r>
            <a:r>
              <a:rPr lang="en-US" err="1"/>
              <a:t>grafiği</a:t>
            </a:r>
            <a:r>
              <a:rPr lang="en-US"/>
              <a:t> </a:t>
            </a:r>
            <a:r>
              <a:rPr lang="en-US" err="1"/>
              <a:t>çizebilmek</a:t>
            </a:r>
            <a:r>
              <a:rPr lang="en-US"/>
              <a:t> </a:t>
            </a:r>
            <a:r>
              <a:rPr lang="en-US" err="1"/>
              <a:t>için</a:t>
            </a:r>
            <a:r>
              <a:rPr lang="en-US"/>
              <a:t> </a:t>
            </a:r>
            <a:r>
              <a:rPr lang="en-US" err="1"/>
              <a:t>kullanacağımız</a:t>
            </a:r>
            <a:r>
              <a:rPr lang="en-US"/>
              <a:t> </a:t>
            </a:r>
            <a:r>
              <a:rPr lang="en-US" err="1"/>
              <a:t>Python'ın</a:t>
            </a:r>
            <a:r>
              <a:rPr lang="en-US"/>
              <a:t> Matplotlib </a:t>
            </a:r>
            <a:r>
              <a:rPr lang="en-US" err="1"/>
              <a:t>kütüphanesinin</a:t>
            </a:r>
            <a:r>
              <a:rPr lang="en-US"/>
              <a:t> </a:t>
            </a:r>
            <a:r>
              <a:rPr lang="en-US" err="1"/>
              <a:t>gerekli</a:t>
            </a:r>
            <a:r>
              <a:rPr lang="en-US"/>
              <a:t> </a:t>
            </a:r>
            <a:r>
              <a:rPr lang="en-US" err="1"/>
              <a:t>kodlarını</a:t>
            </a:r>
            <a:r>
              <a:rPr lang="en-US"/>
              <a:t> bize </a:t>
            </a:r>
            <a:r>
              <a:rPr lang="en-US" err="1"/>
              <a:t>vermesini</a:t>
            </a:r>
            <a:r>
              <a:rPr lang="en-US"/>
              <a:t> </a:t>
            </a:r>
            <a:r>
              <a:rPr lang="en-US" err="1"/>
              <a:t>istiyoruz</a:t>
            </a:r>
            <a:r>
              <a:rPr lang="en-US"/>
              <a:t>.</a:t>
            </a:r>
          </a:p>
        </p:txBody>
      </p:sp>
    </p:spTree>
    <p:extLst>
      <p:ext uri="{BB962C8B-B14F-4D97-AF65-F5344CB8AC3E}">
        <p14:creationId xmlns:p14="http://schemas.microsoft.com/office/powerpoint/2010/main" val="3736834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code&#10;&#10;AI-generated content may be incorrect.">
            <a:extLst>
              <a:ext uri="{FF2B5EF4-FFF2-40B4-BE49-F238E27FC236}">
                <a16:creationId xmlns:a16="http://schemas.microsoft.com/office/drawing/2014/main" id="{C328DDDD-1CFA-22EC-E93A-148D3AB092FE}"/>
              </a:ext>
            </a:extLst>
          </p:cNvPr>
          <p:cNvPicPr>
            <a:picLocks noGrp="1" noChangeAspect="1"/>
          </p:cNvPicPr>
          <p:nvPr>
            <p:ph sz="half" idx="1"/>
          </p:nvPr>
        </p:nvPicPr>
        <p:blipFill>
          <a:blip r:embed="rId2"/>
          <a:stretch>
            <a:fillRect/>
          </a:stretch>
        </p:blipFill>
        <p:spPr>
          <a:xfrm>
            <a:off x="5108" y="80560"/>
            <a:ext cx="5181600" cy="3351847"/>
          </a:xfrm>
          <a:prstGeom prst="rect">
            <a:avLst/>
          </a:prstGeom>
        </p:spPr>
      </p:pic>
      <p:pic>
        <p:nvPicPr>
          <p:cNvPr id="6" name="Content Placeholder 5" descr="A screenshot of a computer code&#10;&#10;AI-generated content may be incorrect.">
            <a:extLst>
              <a:ext uri="{FF2B5EF4-FFF2-40B4-BE49-F238E27FC236}">
                <a16:creationId xmlns:a16="http://schemas.microsoft.com/office/drawing/2014/main" id="{48BE5295-18D8-EBDD-E07F-08E761295054}"/>
              </a:ext>
            </a:extLst>
          </p:cNvPr>
          <p:cNvPicPr>
            <a:picLocks noGrp="1" noChangeAspect="1"/>
          </p:cNvPicPr>
          <p:nvPr>
            <p:ph sz="half" idx="2"/>
          </p:nvPr>
        </p:nvPicPr>
        <p:blipFill>
          <a:blip r:embed="rId3"/>
          <a:stretch>
            <a:fillRect/>
          </a:stretch>
        </p:blipFill>
        <p:spPr>
          <a:xfrm>
            <a:off x="137984" y="3332315"/>
            <a:ext cx="5027141" cy="3510687"/>
          </a:xfrm>
          <a:prstGeom prst="rect">
            <a:avLst/>
          </a:prstGeom>
        </p:spPr>
      </p:pic>
      <p:pic>
        <p:nvPicPr>
          <p:cNvPr id="7" name="Picture 6" descr="A screenshot of a computer code&#10;&#10;AI-generated content may be incorrect.">
            <a:extLst>
              <a:ext uri="{FF2B5EF4-FFF2-40B4-BE49-F238E27FC236}">
                <a16:creationId xmlns:a16="http://schemas.microsoft.com/office/drawing/2014/main" id="{8A957C0B-7310-196A-C68E-25A18B71C4D6}"/>
              </a:ext>
            </a:extLst>
          </p:cNvPr>
          <p:cNvPicPr>
            <a:picLocks noChangeAspect="1"/>
          </p:cNvPicPr>
          <p:nvPr/>
        </p:nvPicPr>
        <p:blipFill>
          <a:blip r:embed="rId4"/>
          <a:stretch>
            <a:fillRect/>
          </a:stretch>
        </p:blipFill>
        <p:spPr>
          <a:xfrm>
            <a:off x="5191544" y="257431"/>
            <a:ext cx="6452109" cy="6240164"/>
          </a:xfrm>
          <a:prstGeom prst="rect">
            <a:avLst/>
          </a:prstGeom>
        </p:spPr>
      </p:pic>
    </p:spTree>
    <p:extLst>
      <p:ext uri="{BB962C8B-B14F-4D97-AF65-F5344CB8AC3E}">
        <p14:creationId xmlns:p14="http://schemas.microsoft.com/office/powerpoint/2010/main" val="2103781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ry cracked ground with trees and flowers&#10;&#10;AI-generated content may be incorrect.">
            <a:extLst>
              <a:ext uri="{FF2B5EF4-FFF2-40B4-BE49-F238E27FC236}">
                <a16:creationId xmlns:a16="http://schemas.microsoft.com/office/drawing/2014/main" id="{C3BC190D-3DF4-EC01-A806-5879B53E9789}"/>
              </a:ext>
            </a:extLst>
          </p:cNvPr>
          <p:cNvPicPr>
            <a:picLocks noChangeAspect="1"/>
          </p:cNvPicPr>
          <p:nvPr/>
        </p:nvPicPr>
        <p:blipFill>
          <a:blip r:embed="rId4"/>
          <a:stretch>
            <a:fillRect/>
          </a:stretch>
        </p:blipFill>
        <p:spPr>
          <a:xfrm>
            <a:off x="347870" y="298174"/>
            <a:ext cx="6858000" cy="6261653"/>
          </a:xfrm>
          <a:prstGeom prst="rect">
            <a:avLst/>
          </a:prstGeom>
        </p:spPr>
      </p:pic>
      <p:pic>
        <p:nvPicPr>
          <p:cNvPr id="5" name="ElevenLabs_2025-10-23T17_18_16_Rachel_pre_sp100_s50_sb75_se0_b_m2">
            <a:hlinkClick r:id="" action="ppaction://media"/>
            <a:extLst>
              <a:ext uri="{FF2B5EF4-FFF2-40B4-BE49-F238E27FC236}">
                <a16:creationId xmlns:a16="http://schemas.microsoft.com/office/drawing/2014/main" id="{D46CAAEE-1995-4C09-3A52-085F35B8110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248946" y="2529212"/>
            <a:ext cx="860879" cy="806450"/>
          </a:xfrm>
          <a:prstGeom prst="rect">
            <a:avLst/>
          </a:prstGeom>
        </p:spPr>
      </p:pic>
    </p:spTree>
    <p:extLst>
      <p:ext uri="{BB962C8B-B14F-4D97-AF65-F5344CB8AC3E}">
        <p14:creationId xmlns:p14="http://schemas.microsoft.com/office/powerpoint/2010/main" val="137393333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nextCondLst>
                <p:cond evt="onClick" delay="0">
                  <p:tgtEl>
                    <p:spTgt spid="5"/>
                  </p:tgtEl>
                </p:cond>
              </p:nextCondLst>
            </p:seq>
            <p:audio>
              <p:cMediaNode>
                <p:cTn id="7" fill="hold" display="0">
                  <p:stCondLst>
                    <p:cond delay="indefinite"/>
                  </p:stCondLst>
                  <p:endCondLst>
                    <p:cond evt="onStopAudio" delay="0">
                      <p:tgtEl>
                        <p:sldTgt/>
                      </p:tgtEl>
                    </p:cond>
                  </p:endCondLst>
                </p:cTn>
                <p:tgtEl>
                  <p:spTgt spid="5"/>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14AD86DA-B00B-5822-9E3C-69DF7954634F}"/>
              </a:ext>
            </a:extLst>
          </p:cNvPr>
          <p:cNvPicPr>
            <a:picLocks noGrp="1" noChangeAspect="1"/>
          </p:cNvPicPr>
          <p:nvPr>
            <p:ph sz="half" idx="1"/>
          </p:nvPr>
        </p:nvPicPr>
        <p:blipFill>
          <a:blip r:embed="rId2"/>
          <a:stretch>
            <a:fillRect/>
          </a:stretch>
        </p:blipFill>
        <p:spPr>
          <a:xfrm>
            <a:off x="612648" y="154348"/>
            <a:ext cx="10360991" cy="4590675"/>
          </a:xfrm>
          <a:prstGeom prst="rect">
            <a:avLst/>
          </a:prstGeom>
        </p:spPr>
      </p:pic>
      <p:sp>
        <p:nvSpPr>
          <p:cNvPr id="4" name="Content Placeholder 3">
            <a:extLst>
              <a:ext uri="{FF2B5EF4-FFF2-40B4-BE49-F238E27FC236}">
                <a16:creationId xmlns:a16="http://schemas.microsoft.com/office/drawing/2014/main" id="{B7F3610C-721D-F778-A02B-AE6197068CD3}"/>
              </a:ext>
            </a:extLst>
          </p:cNvPr>
          <p:cNvSpPr>
            <a:spLocks noGrp="1"/>
          </p:cNvSpPr>
          <p:nvPr>
            <p:ph sz="half" idx="2"/>
          </p:nvPr>
        </p:nvSpPr>
        <p:spPr>
          <a:xfrm>
            <a:off x="617332" y="4939884"/>
            <a:ext cx="10736468" cy="1237079"/>
          </a:xfrm>
        </p:spPr>
        <p:txBody>
          <a:bodyPr vert="horz" lIns="91440" tIns="45720" rIns="91440" bIns="45720" rtlCol="0" anchor="t">
            <a:normAutofit/>
          </a:bodyPr>
          <a:lstStyle/>
          <a:p>
            <a:pPr marL="0" indent="0">
              <a:buNone/>
            </a:pPr>
            <a:r>
              <a:rPr lang="en-US" err="1"/>
              <a:t>NightCafe'ye</a:t>
            </a:r>
            <a:r>
              <a:rPr lang="en-US"/>
              <a:t> </a:t>
            </a:r>
            <a:r>
              <a:rPr lang="en-US" err="1"/>
              <a:t>küresel</a:t>
            </a:r>
            <a:r>
              <a:rPr lang="en-US"/>
              <a:t> </a:t>
            </a:r>
            <a:r>
              <a:rPr lang="en-US" err="1"/>
              <a:t>ısınma</a:t>
            </a:r>
            <a:r>
              <a:rPr lang="en-US"/>
              <a:t> </a:t>
            </a:r>
            <a:r>
              <a:rPr lang="en-US" err="1"/>
              <a:t>sonucu</a:t>
            </a:r>
            <a:r>
              <a:rPr lang="en-US"/>
              <a:t> </a:t>
            </a:r>
            <a:r>
              <a:rPr lang="en-US" err="1"/>
              <a:t>mahvolmuş</a:t>
            </a:r>
            <a:r>
              <a:rPr lang="en-US"/>
              <a:t> </a:t>
            </a:r>
            <a:r>
              <a:rPr lang="en-US" err="1"/>
              <a:t>bir</a:t>
            </a:r>
            <a:r>
              <a:rPr lang="en-US"/>
              <a:t> </a:t>
            </a:r>
            <a:r>
              <a:rPr lang="en-US" err="1"/>
              <a:t>doğal</a:t>
            </a:r>
            <a:r>
              <a:rPr lang="en-US"/>
              <a:t> habitat </a:t>
            </a:r>
            <a:r>
              <a:rPr lang="en-US" err="1"/>
              <a:t>çizmesini</a:t>
            </a:r>
            <a:r>
              <a:rPr lang="en-US"/>
              <a:t> </a:t>
            </a:r>
            <a:r>
              <a:rPr lang="en-US" err="1"/>
              <a:t>istiyoruz</a:t>
            </a:r>
            <a:r>
              <a:rPr lang="en-US"/>
              <a:t>.</a:t>
            </a:r>
            <a:endParaRPr lang="tr-TR"/>
          </a:p>
        </p:txBody>
      </p:sp>
    </p:spTree>
    <p:extLst>
      <p:ext uri="{BB962C8B-B14F-4D97-AF65-F5344CB8AC3E}">
        <p14:creationId xmlns:p14="http://schemas.microsoft.com/office/powerpoint/2010/main" val="415696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phone&#10;&#10;AI-generated content may be incorrect.">
            <a:extLst>
              <a:ext uri="{FF2B5EF4-FFF2-40B4-BE49-F238E27FC236}">
                <a16:creationId xmlns:a16="http://schemas.microsoft.com/office/drawing/2014/main" id="{5E544F4F-4967-6E9B-054E-53C3FB2B6D33}"/>
              </a:ext>
            </a:extLst>
          </p:cNvPr>
          <p:cNvPicPr>
            <a:picLocks noGrp="1" noChangeAspect="1"/>
          </p:cNvPicPr>
          <p:nvPr>
            <p:ph sz="half" idx="2"/>
          </p:nvPr>
        </p:nvPicPr>
        <p:blipFill>
          <a:blip r:embed="rId2"/>
          <a:stretch>
            <a:fillRect/>
          </a:stretch>
        </p:blipFill>
        <p:spPr>
          <a:xfrm>
            <a:off x="5741504" y="583438"/>
            <a:ext cx="4430486" cy="2263711"/>
          </a:xfrm>
          <a:prstGeom prst="rect">
            <a:avLst/>
          </a:prstGeom>
        </p:spPr>
      </p:pic>
      <p:pic>
        <p:nvPicPr>
          <p:cNvPr id="8" name="Content Placeholder 7" descr="A screenshot of a phone&#10;&#10;AI-generated content may be incorrect.">
            <a:extLst>
              <a:ext uri="{FF2B5EF4-FFF2-40B4-BE49-F238E27FC236}">
                <a16:creationId xmlns:a16="http://schemas.microsoft.com/office/drawing/2014/main" id="{94376D26-10B0-4F04-AB0B-ADCF109427A9}"/>
              </a:ext>
            </a:extLst>
          </p:cNvPr>
          <p:cNvPicPr>
            <a:picLocks noGrp="1" noChangeAspect="1"/>
          </p:cNvPicPr>
          <p:nvPr>
            <p:ph sz="half" idx="1"/>
          </p:nvPr>
        </p:nvPicPr>
        <p:blipFill>
          <a:blip r:embed="rId3"/>
          <a:stretch>
            <a:fillRect/>
          </a:stretch>
        </p:blipFill>
        <p:spPr>
          <a:xfrm>
            <a:off x="866648" y="748602"/>
            <a:ext cx="4430486" cy="1933384"/>
          </a:xfrm>
          <a:prstGeom prst="rect">
            <a:avLst/>
          </a:prstGeom>
        </p:spPr>
      </p:pic>
      <p:pic>
        <p:nvPicPr>
          <p:cNvPr id="10" name="Picture 9" descr="A screenshot of a white and black text&#10;&#10;AI-generated content may be incorrect.">
            <a:extLst>
              <a:ext uri="{FF2B5EF4-FFF2-40B4-BE49-F238E27FC236}">
                <a16:creationId xmlns:a16="http://schemas.microsoft.com/office/drawing/2014/main" id="{FE64B0E2-3CEF-3506-376D-44199A4E4FF7}"/>
              </a:ext>
            </a:extLst>
          </p:cNvPr>
          <p:cNvPicPr>
            <a:picLocks noChangeAspect="1"/>
          </p:cNvPicPr>
          <p:nvPr/>
        </p:nvPicPr>
        <p:blipFill>
          <a:blip r:embed="rId4"/>
          <a:stretch>
            <a:fillRect/>
          </a:stretch>
        </p:blipFill>
        <p:spPr>
          <a:xfrm>
            <a:off x="641175" y="3025913"/>
            <a:ext cx="8644160" cy="3644348"/>
          </a:xfrm>
          <a:prstGeom prst="rect">
            <a:avLst/>
          </a:prstGeom>
        </p:spPr>
      </p:pic>
    </p:spTree>
    <p:extLst>
      <p:ext uri="{BB962C8B-B14F-4D97-AF65-F5344CB8AC3E}">
        <p14:creationId xmlns:p14="http://schemas.microsoft.com/office/powerpoint/2010/main" val="3947324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text with black text&#10;&#10;AI-generated content may be incorrect.">
            <a:extLst>
              <a:ext uri="{FF2B5EF4-FFF2-40B4-BE49-F238E27FC236}">
                <a16:creationId xmlns:a16="http://schemas.microsoft.com/office/drawing/2014/main" id="{3DE5824F-E9BE-AF82-48B0-B07CB2B48E13}"/>
              </a:ext>
            </a:extLst>
          </p:cNvPr>
          <p:cNvPicPr>
            <a:picLocks noGrp="1" noChangeAspect="1"/>
          </p:cNvPicPr>
          <p:nvPr>
            <p:ph sz="half" idx="1"/>
          </p:nvPr>
        </p:nvPicPr>
        <p:blipFill>
          <a:blip r:embed="rId2"/>
          <a:stretch>
            <a:fillRect/>
          </a:stretch>
        </p:blipFill>
        <p:spPr>
          <a:xfrm>
            <a:off x="336561" y="325978"/>
            <a:ext cx="5181600" cy="2778633"/>
          </a:xfrm>
          <a:prstGeom prst="rect">
            <a:avLst/>
          </a:prstGeom>
        </p:spPr>
      </p:pic>
      <p:pic>
        <p:nvPicPr>
          <p:cNvPr id="6" name="Content Placeholder 5" descr="A white background with black text&#10;&#10;AI-generated content may be incorrect.">
            <a:extLst>
              <a:ext uri="{FF2B5EF4-FFF2-40B4-BE49-F238E27FC236}">
                <a16:creationId xmlns:a16="http://schemas.microsoft.com/office/drawing/2014/main" id="{817BBE22-277F-5A9A-035C-9C4BADD61716}"/>
              </a:ext>
            </a:extLst>
          </p:cNvPr>
          <p:cNvPicPr>
            <a:picLocks noGrp="1" noChangeAspect="1"/>
          </p:cNvPicPr>
          <p:nvPr>
            <p:ph sz="half" idx="2"/>
          </p:nvPr>
        </p:nvPicPr>
        <p:blipFill>
          <a:blip r:embed="rId3"/>
          <a:stretch>
            <a:fillRect/>
          </a:stretch>
        </p:blipFill>
        <p:spPr>
          <a:xfrm>
            <a:off x="6094896" y="330961"/>
            <a:ext cx="5181600" cy="2150232"/>
          </a:xfrm>
          <a:prstGeom prst="rect">
            <a:avLst/>
          </a:prstGeom>
        </p:spPr>
      </p:pic>
      <p:sp>
        <p:nvSpPr>
          <p:cNvPr id="2" name="TextBox 1">
            <a:extLst>
              <a:ext uri="{FF2B5EF4-FFF2-40B4-BE49-F238E27FC236}">
                <a16:creationId xmlns:a16="http://schemas.microsoft.com/office/drawing/2014/main" id="{96EE0D3A-98BD-58DC-1BE8-D4CF42BB5C27}"/>
              </a:ext>
            </a:extLst>
          </p:cNvPr>
          <p:cNvSpPr txBox="1"/>
          <p:nvPr/>
        </p:nvSpPr>
        <p:spPr>
          <a:xfrm>
            <a:off x="993687" y="4209372"/>
            <a:ext cx="1028082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Arka </a:t>
            </a:r>
            <a:r>
              <a:rPr lang="en-US" err="1"/>
              <a:t>sayfadaki</a:t>
            </a:r>
            <a:r>
              <a:rPr lang="en-US"/>
              <a:t> 3 </a:t>
            </a:r>
            <a:r>
              <a:rPr lang="en-US" err="1"/>
              <a:t>ve</a:t>
            </a:r>
            <a:r>
              <a:rPr lang="en-US"/>
              <a:t> </a:t>
            </a:r>
            <a:r>
              <a:rPr lang="en-US" err="1"/>
              <a:t>bu</a:t>
            </a:r>
            <a:r>
              <a:rPr lang="en-US"/>
              <a:t> </a:t>
            </a:r>
            <a:r>
              <a:rPr lang="en-US" err="1"/>
              <a:t>sayfada</a:t>
            </a:r>
            <a:r>
              <a:rPr lang="en-US"/>
              <a:t> </a:t>
            </a:r>
            <a:r>
              <a:rPr lang="en-US" err="1"/>
              <a:t>solda</a:t>
            </a:r>
            <a:r>
              <a:rPr lang="en-US"/>
              <a:t> </a:t>
            </a:r>
            <a:r>
              <a:rPr lang="en-US" err="1"/>
              <a:t>bulunan</a:t>
            </a:r>
            <a:r>
              <a:rPr lang="en-US"/>
              <a:t> </a:t>
            </a:r>
            <a:r>
              <a:rPr lang="en-US" err="1"/>
              <a:t>ekran</a:t>
            </a:r>
            <a:r>
              <a:rPr lang="en-US"/>
              <a:t> </a:t>
            </a:r>
            <a:r>
              <a:rPr lang="en-US" err="1"/>
              <a:t>görüntüleriyle</a:t>
            </a:r>
            <a:r>
              <a:rPr lang="en-US"/>
              <a:t> </a:t>
            </a:r>
            <a:r>
              <a:rPr lang="en-US" err="1"/>
              <a:t>oluşturacağımız</a:t>
            </a:r>
            <a:r>
              <a:rPr lang="en-US"/>
              <a:t> </a:t>
            </a:r>
            <a:r>
              <a:rPr lang="en-US" err="1"/>
              <a:t>ses</a:t>
            </a:r>
            <a:r>
              <a:rPr lang="en-US"/>
              <a:t> </a:t>
            </a:r>
            <a:r>
              <a:rPr lang="en-US" err="1"/>
              <a:t>için</a:t>
            </a:r>
            <a:r>
              <a:rPr lang="en-US"/>
              <a:t> </a:t>
            </a:r>
            <a:r>
              <a:rPr lang="en-US" err="1"/>
              <a:t>bir</a:t>
            </a:r>
            <a:r>
              <a:rPr lang="en-US"/>
              <a:t> </a:t>
            </a:r>
            <a:r>
              <a:rPr lang="en-US" err="1"/>
              <a:t>metin</a:t>
            </a:r>
            <a:r>
              <a:rPr lang="en-US"/>
              <a:t> </a:t>
            </a:r>
            <a:r>
              <a:rPr lang="en-US" err="1"/>
              <a:t>ön</a:t>
            </a:r>
            <a:r>
              <a:rPr lang="en-US"/>
              <a:t> </a:t>
            </a:r>
            <a:r>
              <a:rPr lang="en-US" err="1"/>
              <a:t>hazırlığı</a:t>
            </a:r>
            <a:r>
              <a:rPr lang="en-US"/>
              <a:t> </a:t>
            </a:r>
            <a:r>
              <a:rPr lang="en-US" err="1"/>
              <a:t>yapıyoruz</a:t>
            </a:r>
            <a:r>
              <a:rPr lang="en-US"/>
              <a:t>. </a:t>
            </a:r>
            <a:r>
              <a:rPr lang="en-US" err="1"/>
              <a:t>Buradaki</a:t>
            </a:r>
            <a:r>
              <a:rPr lang="en-US"/>
              <a:t> </a:t>
            </a:r>
            <a:r>
              <a:rPr lang="en-US" err="1"/>
              <a:t>yönlendirmeler</a:t>
            </a:r>
            <a:r>
              <a:rPr lang="en-US"/>
              <a:t> </a:t>
            </a:r>
            <a:r>
              <a:rPr lang="en-US" err="1"/>
              <a:t>ile</a:t>
            </a:r>
            <a:r>
              <a:rPr lang="en-US"/>
              <a:t> </a:t>
            </a:r>
            <a:r>
              <a:rPr lang="en-US" err="1"/>
              <a:t>yandaki</a:t>
            </a:r>
            <a:r>
              <a:rPr lang="en-US"/>
              <a:t> </a:t>
            </a:r>
            <a:r>
              <a:rPr lang="en-US" err="1"/>
              <a:t>metni</a:t>
            </a:r>
            <a:r>
              <a:rPr lang="en-US"/>
              <a:t> </a:t>
            </a:r>
            <a:r>
              <a:rPr lang="en-US" err="1"/>
              <a:t>oluşturduk</a:t>
            </a:r>
            <a:r>
              <a:rPr lang="en-US"/>
              <a:t>. </a:t>
            </a:r>
            <a:r>
              <a:rPr lang="en-US" err="1"/>
              <a:t>Ardından</a:t>
            </a:r>
            <a:r>
              <a:rPr lang="en-US"/>
              <a:t> </a:t>
            </a:r>
            <a:r>
              <a:rPr lang="en-US" err="1"/>
              <a:t>bu</a:t>
            </a:r>
            <a:r>
              <a:rPr lang="en-US"/>
              <a:t> </a:t>
            </a:r>
            <a:r>
              <a:rPr lang="en-US" err="1"/>
              <a:t>metni</a:t>
            </a:r>
            <a:r>
              <a:rPr lang="en-US"/>
              <a:t> </a:t>
            </a:r>
            <a:r>
              <a:rPr lang="en-US" err="1"/>
              <a:t>ElevenLabs</a:t>
            </a:r>
            <a:r>
              <a:rPr lang="en-US"/>
              <a:t> </a:t>
            </a:r>
            <a:r>
              <a:rPr lang="en-US" err="1"/>
              <a:t>kullanarak</a:t>
            </a:r>
            <a:r>
              <a:rPr lang="en-US"/>
              <a:t> </a:t>
            </a:r>
            <a:r>
              <a:rPr lang="en-US" err="1"/>
              <a:t>seslendirilmesini</a:t>
            </a:r>
            <a:r>
              <a:rPr lang="en-US"/>
              <a:t> </a:t>
            </a:r>
            <a:r>
              <a:rPr lang="en-US" err="1"/>
              <a:t>sağladık</a:t>
            </a:r>
            <a:r>
              <a:rPr lang="en-US"/>
              <a:t>.</a:t>
            </a:r>
          </a:p>
        </p:txBody>
      </p:sp>
    </p:spTree>
    <p:extLst>
      <p:ext uri="{BB962C8B-B14F-4D97-AF65-F5344CB8AC3E}">
        <p14:creationId xmlns:p14="http://schemas.microsoft.com/office/powerpoint/2010/main" val="3829198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87C5F1B-4908-0ACB-4234-FA9AA5BDE27A}"/>
              </a:ext>
            </a:extLst>
          </p:cNvPr>
          <p:cNvPicPr>
            <a:picLocks noGrp="1" noChangeAspect="1"/>
          </p:cNvPicPr>
          <p:nvPr>
            <p:ph sz="half" idx="1"/>
          </p:nvPr>
        </p:nvPicPr>
        <p:blipFill>
          <a:blip r:embed="rId2"/>
          <a:stretch>
            <a:fillRect/>
          </a:stretch>
        </p:blipFill>
        <p:spPr>
          <a:xfrm>
            <a:off x="458039" y="1067802"/>
            <a:ext cx="10603947" cy="3912290"/>
          </a:xfrm>
          <a:prstGeom prst="rect">
            <a:avLst/>
          </a:prstGeom>
        </p:spPr>
      </p:pic>
      <p:sp>
        <p:nvSpPr>
          <p:cNvPr id="4" name="Content Placeholder 3">
            <a:extLst>
              <a:ext uri="{FF2B5EF4-FFF2-40B4-BE49-F238E27FC236}">
                <a16:creationId xmlns:a16="http://schemas.microsoft.com/office/drawing/2014/main" id="{CEF1A505-7C64-0DAE-49A8-6CF42FA2B816}"/>
              </a:ext>
            </a:extLst>
          </p:cNvPr>
          <p:cNvSpPr>
            <a:spLocks noGrp="1"/>
          </p:cNvSpPr>
          <p:nvPr>
            <p:ph sz="half" idx="2"/>
          </p:nvPr>
        </p:nvSpPr>
        <p:spPr>
          <a:xfrm>
            <a:off x="462724" y="5171798"/>
            <a:ext cx="10891076" cy="1005165"/>
          </a:xfrm>
        </p:spPr>
        <p:txBody>
          <a:bodyPr vert="horz" lIns="91440" tIns="45720" rIns="91440" bIns="45720" rtlCol="0" anchor="t">
            <a:normAutofit/>
          </a:bodyPr>
          <a:lstStyle/>
          <a:p>
            <a:r>
              <a:rPr lang="en-US" err="1"/>
              <a:t>Kişisel</a:t>
            </a:r>
            <a:r>
              <a:rPr lang="en-US"/>
              <a:t> Su </a:t>
            </a:r>
            <a:r>
              <a:rPr lang="en-US" err="1"/>
              <a:t>Asistanının</a:t>
            </a:r>
            <a:r>
              <a:rPr lang="en-US"/>
              <a:t> </a:t>
            </a:r>
            <a:r>
              <a:rPr lang="en-US" err="1"/>
              <a:t>arayüzü</a:t>
            </a:r>
            <a:r>
              <a:rPr lang="en-US"/>
              <a:t>. </a:t>
            </a:r>
            <a:r>
              <a:rPr lang="en-US" err="1"/>
              <a:t>Kullanıcı</a:t>
            </a:r>
            <a:r>
              <a:rPr lang="en-US"/>
              <a:t> </a:t>
            </a:r>
            <a:r>
              <a:rPr lang="en-US" err="1"/>
              <a:t>bu</a:t>
            </a:r>
            <a:r>
              <a:rPr lang="en-US"/>
              <a:t> </a:t>
            </a:r>
            <a:r>
              <a:rPr lang="en-US" err="1"/>
              <a:t>arayüz</a:t>
            </a:r>
            <a:r>
              <a:rPr lang="en-US"/>
              <a:t> </a:t>
            </a:r>
            <a:r>
              <a:rPr lang="en-US" err="1"/>
              <a:t>ile</a:t>
            </a:r>
            <a:r>
              <a:rPr lang="en-US"/>
              <a:t> </a:t>
            </a:r>
            <a:r>
              <a:rPr lang="en-US" err="1"/>
              <a:t>asistana</a:t>
            </a:r>
            <a:r>
              <a:rPr lang="en-US"/>
              <a:t> </a:t>
            </a:r>
            <a:r>
              <a:rPr lang="en-US" err="1"/>
              <a:t>su</a:t>
            </a:r>
            <a:r>
              <a:rPr lang="en-US"/>
              <a:t> </a:t>
            </a:r>
            <a:r>
              <a:rPr lang="en-US" err="1"/>
              <a:t>kullanım</a:t>
            </a:r>
            <a:r>
              <a:rPr lang="en-US"/>
              <a:t> </a:t>
            </a:r>
            <a:r>
              <a:rPr lang="en-US" err="1"/>
              <a:t>verilerini</a:t>
            </a:r>
            <a:r>
              <a:rPr lang="en-US"/>
              <a:t> </a:t>
            </a:r>
            <a:r>
              <a:rPr lang="en-US" err="1"/>
              <a:t>vererek</a:t>
            </a:r>
            <a:r>
              <a:rPr lang="en-US"/>
              <a:t> </a:t>
            </a:r>
            <a:r>
              <a:rPr lang="en-US" err="1"/>
              <a:t>su</a:t>
            </a:r>
            <a:r>
              <a:rPr lang="en-US"/>
              <a:t> </a:t>
            </a:r>
            <a:r>
              <a:rPr lang="en-US" err="1"/>
              <a:t>tasarrufu</a:t>
            </a:r>
            <a:r>
              <a:rPr lang="en-US"/>
              <a:t> </a:t>
            </a:r>
            <a:r>
              <a:rPr lang="en-US" err="1"/>
              <a:t>önerileri</a:t>
            </a:r>
            <a:r>
              <a:rPr lang="en-US"/>
              <a:t> </a:t>
            </a:r>
            <a:r>
              <a:rPr lang="en-US" err="1"/>
              <a:t>alır</a:t>
            </a:r>
            <a:r>
              <a:rPr lang="en-US"/>
              <a:t>.</a:t>
            </a:r>
          </a:p>
        </p:txBody>
      </p:sp>
      <p:sp>
        <p:nvSpPr>
          <p:cNvPr id="6" name="TextBox 5">
            <a:extLst>
              <a:ext uri="{FF2B5EF4-FFF2-40B4-BE49-F238E27FC236}">
                <a16:creationId xmlns:a16="http://schemas.microsoft.com/office/drawing/2014/main" id="{76DBC0E5-F891-BA2B-3CAB-4942B4465226}"/>
              </a:ext>
            </a:extLst>
          </p:cNvPr>
          <p:cNvSpPr txBox="1"/>
          <p:nvPr/>
        </p:nvSpPr>
        <p:spPr>
          <a:xfrm>
            <a:off x="651303" y="358832"/>
            <a:ext cx="1032084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Su </a:t>
            </a:r>
            <a:r>
              <a:rPr lang="en-US" sz="2400" b="1" err="1"/>
              <a:t>Asistanını</a:t>
            </a:r>
            <a:r>
              <a:rPr lang="en-US" sz="2400" b="1"/>
              <a:t> </a:t>
            </a:r>
            <a:r>
              <a:rPr lang="en-US" sz="2400" b="1" err="1"/>
              <a:t>Oluştururken</a:t>
            </a:r>
            <a:r>
              <a:rPr lang="en-US" sz="2400" b="1"/>
              <a:t> </a:t>
            </a:r>
            <a:r>
              <a:rPr lang="en-US" sz="2400" b="1" err="1"/>
              <a:t>Kullandığımız</a:t>
            </a:r>
            <a:r>
              <a:rPr lang="en-US" sz="2400" b="1"/>
              <a:t> </a:t>
            </a:r>
            <a:r>
              <a:rPr lang="en-US" sz="2400" b="1" err="1"/>
              <a:t>Promptlar</a:t>
            </a:r>
            <a:r>
              <a:rPr lang="en-US" sz="2400" b="1"/>
              <a:t>:</a:t>
            </a:r>
          </a:p>
        </p:txBody>
      </p:sp>
    </p:spTree>
    <p:extLst>
      <p:ext uri="{BB962C8B-B14F-4D97-AF65-F5344CB8AC3E}">
        <p14:creationId xmlns:p14="http://schemas.microsoft.com/office/powerpoint/2010/main" val="168344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C05083-8780-5F49-3181-4E247B6C7831}"/>
              </a:ext>
            </a:extLst>
          </p:cNvPr>
          <p:cNvPicPr>
            <a:picLocks noGrp="1" noChangeAspect="1"/>
          </p:cNvPicPr>
          <p:nvPr>
            <p:ph sz="half" idx="1"/>
          </p:nvPr>
        </p:nvPicPr>
        <p:blipFill>
          <a:blip r:embed="rId2"/>
          <a:stretch>
            <a:fillRect/>
          </a:stretch>
        </p:blipFill>
        <p:spPr>
          <a:xfrm>
            <a:off x="612648" y="1547535"/>
            <a:ext cx="5181600" cy="3902561"/>
          </a:xfrm>
          <a:prstGeom prst="rect">
            <a:avLst/>
          </a:prstGeom>
        </p:spPr>
      </p:pic>
      <p:sp>
        <p:nvSpPr>
          <p:cNvPr id="4" name="Content Placeholder 3">
            <a:extLst>
              <a:ext uri="{FF2B5EF4-FFF2-40B4-BE49-F238E27FC236}">
                <a16:creationId xmlns:a16="http://schemas.microsoft.com/office/drawing/2014/main" id="{99071E3F-E803-BCEF-945C-E9885D412685}"/>
              </a:ext>
            </a:extLst>
          </p:cNvPr>
          <p:cNvSpPr>
            <a:spLocks noGrp="1"/>
          </p:cNvSpPr>
          <p:nvPr>
            <p:ph sz="half" idx="2"/>
          </p:nvPr>
        </p:nvSpPr>
        <p:spPr>
          <a:xfrm>
            <a:off x="6105940" y="1538495"/>
            <a:ext cx="5247860" cy="4638468"/>
          </a:xfrm>
        </p:spPr>
        <p:txBody>
          <a:bodyPr vert="horz" lIns="91440" tIns="45720" rIns="91440" bIns="45720" rtlCol="0" anchor="t">
            <a:normAutofit/>
          </a:bodyPr>
          <a:lstStyle/>
          <a:p>
            <a:r>
              <a:rPr lang="en-US" err="1"/>
              <a:t>Burada</a:t>
            </a:r>
            <a:r>
              <a:rPr lang="en-US"/>
              <a:t> </a:t>
            </a:r>
            <a:r>
              <a:rPr lang="en-US" err="1"/>
              <a:t>Asistanımıza</a:t>
            </a:r>
            <a:r>
              <a:rPr lang="en-US"/>
              <a:t> </a:t>
            </a:r>
            <a:r>
              <a:rPr lang="en-US" err="1"/>
              <a:t>rol</a:t>
            </a:r>
            <a:r>
              <a:rPr lang="en-US"/>
              <a:t> </a:t>
            </a:r>
            <a:r>
              <a:rPr lang="en-US" err="1"/>
              <a:t>ataması</a:t>
            </a:r>
            <a:r>
              <a:rPr lang="en-US"/>
              <a:t> </a:t>
            </a:r>
            <a:r>
              <a:rPr lang="en-US" err="1"/>
              <a:t>yaparak</a:t>
            </a:r>
            <a:r>
              <a:rPr lang="en-US"/>
              <a:t> </a:t>
            </a:r>
            <a:r>
              <a:rPr lang="en-US" err="1"/>
              <a:t>kullanıcıdan</a:t>
            </a:r>
            <a:r>
              <a:rPr lang="en-US"/>
              <a:t> </a:t>
            </a:r>
            <a:r>
              <a:rPr lang="en-US" err="1"/>
              <a:t>alması</a:t>
            </a:r>
            <a:r>
              <a:rPr lang="en-US"/>
              <a:t> </a:t>
            </a:r>
            <a:r>
              <a:rPr lang="en-US" err="1"/>
              <a:t>gereken</a:t>
            </a:r>
            <a:r>
              <a:rPr lang="en-US"/>
              <a:t> </a:t>
            </a:r>
            <a:r>
              <a:rPr lang="en-US" err="1"/>
              <a:t>bilgilerin</a:t>
            </a:r>
            <a:r>
              <a:rPr lang="en-US"/>
              <a:t> </a:t>
            </a:r>
            <a:r>
              <a:rPr lang="en-US" err="1"/>
              <a:t>neler</a:t>
            </a:r>
            <a:r>
              <a:rPr lang="en-US"/>
              <a:t> </a:t>
            </a:r>
            <a:r>
              <a:rPr lang="en-US" err="1"/>
              <a:t>olduğunu</a:t>
            </a:r>
            <a:r>
              <a:rPr lang="en-US"/>
              <a:t> </a:t>
            </a:r>
            <a:r>
              <a:rPr lang="en-US" err="1"/>
              <a:t>söylüyoruz</a:t>
            </a:r>
            <a:r>
              <a:rPr lang="en-US"/>
              <a:t>. </a:t>
            </a:r>
            <a:r>
              <a:rPr lang="en-US" err="1"/>
              <a:t>Aldığı</a:t>
            </a:r>
            <a:r>
              <a:rPr lang="en-US"/>
              <a:t> </a:t>
            </a:r>
            <a:r>
              <a:rPr lang="en-US" err="1"/>
              <a:t>bilgileri</a:t>
            </a:r>
            <a:r>
              <a:rPr lang="en-US"/>
              <a:t> </a:t>
            </a:r>
            <a:r>
              <a:rPr lang="en-US" err="1"/>
              <a:t>kullanarak</a:t>
            </a:r>
            <a:r>
              <a:rPr lang="en-US"/>
              <a:t> </a:t>
            </a:r>
            <a:r>
              <a:rPr lang="en-US" err="1"/>
              <a:t>olması</a:t>
            </a:r>
            <a:r>
              <a:rPr lang="en-US"/>
              <a:t> </a:t>
            </a:r>
            <a:r>
              <a:rPr lang="en-US" err="1"/>
              <a:t>gereken</a:t>
            </a:r>
            <a:r>
              <a:rPr lang="en-US"/>
              <a:t> </a:t>
            </a:r>
            <a:r>
              <a:rPr lang="en-US" err="1"/>
              <a:t>sayılarla</a:t>
            </a:r>
            <a:r>
              <a:rPr lang="en-US"/>
              <a:t> </a:t>
            </a:r>
            <a:r>
              <a:rPr lang="en-US" err="1"/>
              <a:t>karşılaştırma</a:t>
            </a:r>
            <a:r>
              <a:rPr lang="en-US"/>
              <a:t> </a:t>
            </a:r>
            <a:r>
              <a:rPr lang="en-US" err="1"/>
              <a:t>yapmasını</a:t>
            </a:r>
            <a:r>
              <a:rPr lang="en-US"/>
              <a:t> </a:t>
            </a:r>
            <a:r>
              <a:rPr lang="en-US" err="1"/>
              <a:t>istiyoruz</a:t>
            </a:r>
            <a:r>
              <a:rPr lang="en-US"/>
              <a:t>. </a:t>
            </a:r>
            <a:r>
              <a:rPr lang="en-US" err="1"/>
              <a:t>Yaptığı</a:t>
            </a:r>
            <a:r>
              <a:rPr lang="en-US"/>
              <a:t> </a:t>
            </a:r>
            <a:r>
              <a:rPr lang="en-US" err="1"/>
              <a:t>karşılaştırmalar</a:t>
            </a:r>
            <a:r>
              <a:rPr lang="en-US"/>
              <a:t> </a:t>
            </a:r>
            <a:r>
              <a:rPr lang="en-US" err="1"/>
              <a:t>sonucu</a:t>
            </a:r>
            <a:r>
              <a:rPr lang="en-US"/>
              <a:t> </a:t>
            </a:r>
            <a:r>
              <a:rPr lang="en-US" err="1"/>
              <a:t>elde</a:t>
            </a:r>
            <a:r>
              <a:rPr lang="en-US"/>
              <a:t> </a:t>
            </a:r>
            <a:r>
              <a:rPr lang="en-US" err="1"/>
              <a:t>ettiği</a:t>
            </a:r>
            <a:r>
              <a:rPr lang="en-US"/>
              <a:t> </a:t>
            </a:r>
            <a:r>
              <a:rPr lang="en-US" err="1"/>
              <a:t>veriler</a:t>
            </a:r>
            <a:r>
              <a:rPr lang="en-US"/>
              <a:t> </a:t>
            </a:r>
            <a:r>
              <a:rPr lang="en-US" err="1"/>
              <a:t>ile</a:t>
            </a:r>
            <a:r>
              <a:rPr lang="en-US"/>
              <a:t> </a:t>
            </a:r>
            <a:r>
              <a:rPr lang="en-US" err="1"/>
              <a:t>kullanıcıya</a:t>
            </a:r>
            <a:r>
              <a:rPr lang="en-US"/>
              <a:t> </a:t>
            </a:r>
            <a:r>
              <a:rPr lang="en-US" err="1"/>
              <a:t>daha</a:t>
            </a:r>
            <a:r>
              <a:rPr lang="en-US"/>
              <a:t> </a:t>
            </a:r>
            <a:r>
              <a:rPr lang="en-US" err="1"/>
              <a:t>fazla</a:t>
            </a:r>
            <a:r>
              <a:rPr lang="en-US"/>
              <a:t> </a:t>
            </a:r>
            <a:r>
              <a:rPr lang="en-US" err="1"/>
              <a:t>su</a:t>
            </a:r>
            <a:r>
              <a:rPr lang="en-US"/>
              <a:t> </a:t>
            </a:r>
            <a:r>
              <a:rPr lang="en-US" err="1"/>
              <a:t>tasarrufu</a:t>
            </a:r>
            <a:r>
              <a:rPr lang="en-US"/>
              <a:t> </a:t>
            </a:r>
            <a:r>
              <a:rPr lang="en-US" err="1"/>
              <a:t>yapabilmesi</a:t>
            </a:r>
            <a:r>
              <a:rPr lang="en-US"/>
              <a:t> </a:t>
            </a:r>
            <a:r>
              <a:rPr lang="en-US" err="1"/>
              <a:t>için</a:t>
            </a:r>
            <a:r>
              <a:rPr lang="en-US"/>
              <a:t> </a:t>
            </a:r>
            <a:r>
              <a:rPr lang="en-US" err="1"/>
              <a:t>öneriler</a:t>
            </a:r>
            <a:r>
              <a:rPr lang="en-US"/>
              <a:t> </a:t>
            </a:r>
            <a:r>
              <a:rPr lang="en-US" err="1"/>
              <a:t>sunmasını</a:t>
            </a:r>
            <a:r>
              <a:rPr lang="en-US"/>
              <a:t> </a:t>
            </a:r>
            <a:r>
              <a:rPr lang="en-US" err="1"/>
              <a:t>istiyoruz.Bu</a:t>
            </a:r>
            <a:r>
              <a:rPr lang="en-US"/>
              <a:t> </a:t>
            </a:r>
            <a:r>
              <a:rPr lang="en-US" err="1"/>
              <a:t>önerileri</a:t>
            </a:r>
            <a:r>
              <a:rPr lang="en-US"/>
              <a:t> </a:t>
            </a:r>
            <a:r>
              <a:rPr lang="en-US" err="1"/>
              <a:t>sunarken</a:t>
            </a:r>
            <a:r>
              <a:rPr lang="en-US"/>
              <a:t> </a:t>
            </a:r>
            <a:r>
              <a:rPr lang="en-US" err="1"/>
              <a:t>kısıtlayıcı</a:t>
            </a:r>
            <a:r>
              <a:rPr lang="en-US"/>
              <a:t> </a:t>
            </a:r>
            <a:r>
              <a:rPr lang="en-US" err="1"/>
              <a:t>ve</a:t>
            </a:r>
            <a:r>
              <a:rPr lang="en-US"/>
              <a:t> </a:t>
            </a:r>
            <a:r>
              <a:rPr lang="en-US" err="1"/>
              <a:t>direkt</a:t>
            </a:r>
            <a:r>
              <a:rPr lang="en-US"/>
              <a:t> </a:t>
            </a:r>
            <a:r>
              <a:rPr lang="en-US" err="1"/>
              <a:t>en</a:t>
            </a:r>
            <a:r>
              <a:rPr lang="en-US"/>
              <a:t> </a:t>
            </a:r>
            <a:r>
              <a:rPr lang="en-US" err="1"/>
              <a:t>zor</a:t>
            </a:r>
            <a:r>
              <a:rPr lang="en-US"/>
              <a:t> </a:t>
            </a:r>
            <a:r>
              <a:rPr lang="en-US" err="1"/>
              <a:t>şekilde</a:t>
            </a:r>
            <a:r>
              <a:rPr lang="en-US"/>
              <a:t> </a:t>
            </a:r>
            <a:r>
              <a:rPr lang="en-US" err="1"/>
              <a:t>olması</a:t>
            </a:r>
            <a:r>
              <a:rPr lang="en-US"/>
              <a:t> </a:t>
            </a:r>
            <a:r>
              <a:rPr lang="en-US" err="1"/>
              <a:t>yerine</a:t>
            </a:r>
            <a:r>
              <a:rPr lang="en-US"/>
              <a:t> </a:t>
            </a:r>
            <a:r>
              <a:rPr lang="en-US" err="1"/>
              <a:t>sürdürülebilir</a:t>
            </a:r>
            <a:r>
              <a:rPr lang="en-US"/>
              <a:t> </a:t>
            </a:r>
            <a:r>
              <a:rPr lang="en-US" err="1"/>
              <a:t>şekilde</a:t>
            </a:r>
            <a:r>
              <a:rPr lang="en-US"/>
              <a:t> </a:t>
            </a:r>
            <a:r>
              <a:rPr lang="en-US" err="1"/>
              <a:t>yapmasını</a:t>
            </a:r>
            <a:r>
              <a:rPr lang="en-US"/>
              <a:t> </a:t>
            </a:r>
            <a:r>
              <a:rPr lang="en-US" err="1"/>
              <a:t>istiyoruz</a:t>
            </a:r>
            <a:r>
              <a:rPr lang="en-US"/>
              <a:t>.</a:t>
            </a:r>
          </a:p>
        </p:txBody>
      </p:sp>
    </p:spTree>
    <p:extLst>
      <p:ext uri="{BB962C8B-B14F-4D97-AF65-F5344CB8AC3E}">
        <p14:creationId xmlns:p14="http://schemas.microsoft.com/office/powerpoint/2010/main" val="1260844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phone&#10;&#10;AI-generated content may be incorrect.">
            <a:extLst>
              <a:ext uri="{FF2B5EF4-FFF2-40B4-BE49-F238E27FC236}">
                <a16:creationId xmlns:a16="http://schemas.microsoft.com/office/drawing/2014/main" id="{4105C42E-241C-CACE-2A57-256D733EA191}"/>
              </a:ext>
            </a:extLst>
          </p:cNvPr>
          <p:cNvPicPr>
            <a:picLocks noGrp="1" noChangeAspect="1"/>
          </p:cNvPicPr>
          <p:nvPr>
            <p:ph sz="half" idx="1"/>
          </p:nvPr>
        </p:nvPicPr>
        <p:blipFill>
          <a:blip r:embed="rId2"/>
          <a:stretch>
            <a:fillRect/>
          </a:stretch>
        </p:blipFill>
        <p:spPr>
          <a:xfrm>
            <a:off x="612648" y="856967"/>
            <a:ext cx="5181600" cy="5029697"/>
          </a:xfrm>
          <a:prstGeom prst="rect">
            <a:avLst/>
          </a:prstGeom>
        </p:spPr>
      </p:pic>
      <p:sp>
        <p:nvSpPr>
          <p:cNvPr id="4" name="Content Placeholder 3">
            <a:extLst>
              <a:ext uri="{FF2B5EF4-FFF2-40B4-BE49-F238E27FC236}">
                <a16:creationId xmlns:a16="http://schemas.microsoft.com/office/drawing/2014/main" id="{BBEF3529-B9DD-5CBD-C839-A4A048551AB8}"/>
              </a:ext>
            </a:extLst>
          </p:cNvPr>
          <p:cNvSpPr>
            <a:spLocks noGrp="1"/>
          </p:cNvSpPr>
          <p:nvPr>
            <p:ph sz="half" idx="2"/>
          </p:nvPr>
        </p:nvSpPr>
        <p:spPr>
          <a:xfrm>
            <a:off x="6094897" y="853799"/>
            <a:ext cx="5258903" cy="5024991"/>
          </a:xfrm>
        </p:spPr>
        <p:txBody>
          <a:bodyPr vert="horz" lIns="91440" tIns="45720" rIns="91440" bIns="45720" rtlCol="0" anchor="t">
            <a:normAutofit/>
          </a:bodyPr>
          <a:lstStyle/>
          <a:p>
            <a:r>
              <a:rPr lang="en-US"/>
              <a:t>Su </a:t>
            </a:r>
            <a:r>
              <a:rPr lang="en-US" err="1"/>
              <a:t>Asistanımızın</a:t>
            </a:r>
            <a:r>
              <a:rPr lang="en-US"/>
              <a:t> </a:t>
            </a:r>
            <a:r>
              <a:rPr lang="en-US" err="1"/>
              <a:t>amaç</a:t>
            </a:r>
            <a:r>
              <a:rPr lang="en-US"/>
              <a:t> </a:t>
            </a:r>
            <a:r>
              <a:rPr lang="en-US" err="1"/>
              <a:t>ve</a:t>
            </a:r>
            <a:r>
              <a:rPr lang="en-US"/>
              <a:t> </a:t>
            </a:r>
            <a:r>
              <a:rPr lang="en-US" err="1"/>
              <a:t>hedeflerini</a:t>
            </a:r>
            <a:r>
              <a:rPr lang="en-US"/>
              <a:t> </a:t>
            </a:r>
            <a:r>
              <a:rPr lang="en-US" err="1"/>
              <a:t>belirliyoruz</a:t>
            </a:r>
            <a:r>
              <a:rPr lang="en-US"/>
              <a:t>. </a:t>
            </a:r>
            <a:r>
              <a:rPr lang="en-US" err="1"/>
              <a:t>Bunlar</a:t>
            </a:r>
            <a:r>
              <a:rPr lang="en-US"/>
              <a:t> </a:t>
            </a:r>
            <a:r>
              <a:rPr lang="en-US" err="1"/>
              <a:t>temel</a:t>
            </a:r>
            <a:r>
              <a:rPr lang="en-US"/>
              <a:t> </a:t>
            </a:r>
            <a:r>
              <a:rPr lang="en-US" err="1"/>
              <a:t>olarak</a:t>
            </a:r>
            <a:r>
              <a:rPr lang="en-US"/>
              <a:t> </a:t>
            </a:r>
            <a:r>
              <a:rPr lang="en-US" err="1"/>
              <a:t>kullanıcının</a:t>
            </a:r>
            <a:r>
              <a:rPr lang="en-US"/>
              <a:t> </a:t>
            </a:r>
            <a:r>
              <a:rPr lang="en-US" err="1"/>
              <a:t>kullanım</a:t>
            </a:r>
            <a:r>
              <a:rPr lang="en-US"/>
              <a:t> </a:t>
            </a:r>
            <a:r>
              <a:rPr lang="en-US" err="1"/>
              <a:t>alışkanlarını</a:t>
            </a:r>
            <a:r>
              <a:rPr lang="en-US"/>
              <a:t> </a:t>
            </a:r>
            <a:r>
              <a:rPr lang="en-US" err="1"/>
              <a:t>anlayıp</a:t>
            </a:r>
            <a:r>
              <a:rPr lang="en-US"/>
              <a:t> </a:t>
            </a:r>
            <a:r>
              <a:rPr lang="en-US" err="1"/>
              <a:t>bunu</a:t>
            </a:r>
            <a:r>
              <a:rPr lang="en-US"/>
              <a:t> </a:t>
            </a:r>
            <a:r>
              <a:rPr lang="en-US" err="1"/>
              <a:t>görselleştirerek</a:t>
            </a:r>
            <a:r>
              <a:rPr lang="en-US"/>
              <a:t> </a:t>
            </a:r>
            <a:r>
              <a:rPr lang="en-US" err="1"/>
              <a:t>kullanıcıya</a:t>
            </a:r>
            <a:r>
              <a:rPr lang="en-US"/>
              <a:t> </a:t>
            </a:r>
            <a:r>
              <a:rPr lang="en-US" err="1"/>
              <a:t>görsel</a:t>
            </a:r>
            <a:r>
              <a:rPr lang="en-US"/>
              <a:t> </a:t>
            </a:r>
            <a:r>
              <a:rPr lang="en-US" err="1"/>
              <a:t>şekilde</a:t>
            </a:r>
            <a:r>
              <a:rPr lang="en-US"/>
              <a:t> sunup </a:t>
            </a:r>
            <a:r>
              <a:rPr lang="en-US" err="1"/>
              <a:t>kullanıcının</a:t>
            </a:r>
            <a:r>
              <a:rPr lang="en-US"/>
              <a:t> </a:t>
            </a:r>
            <a:r>
              <a:rPr lang="en-US" err="1"/>
              <a:t>bundan</a:t>
            </a:r>
            <a:r>
              <a:rPr lang="en-US"/>
              <a:t> motive </a:t>
            </a:r>
            <a:r>
              <a:rPr lang="en-US" err="1"/>
              <a:t>olmasını</a:t>
            </a:r>
            <a:r>
              <a:rPr lang="en-US"/>
              <a:t> </a:t>
            </a:r>
            <a:r>
              <a:rPr lang="en-US" err="1"/>
              <a:t>sağlamak</a:t>
            </a:r>
            <a:r>
              <a:rPr lang="en-US"/>
              <a:t> </a:t>
            </a:r>
            <a:r>
              <a:rPr lang="en-US" err="1"/>
              <a:t>ve</a:t>
            </a:r>
            <a:r>
              <a:rPr lang="en-US"/>
              <a:t> </a:t>
            </a:r>
            <a:r>
              <a:rPr lang="en-US" err="1"/>
              <a:t>önerilerle</a:t>
            </a:r>
            <a:r>
              <a:rPr lang="en-US"/>
              <a:t> </a:t>
            </a:r>
            <a:r>
              <a:rPr lang="en-US" err="1"/>
              <a:t>bunu</a:t>
            </a:r>
            <a:r>
              <a:rPr lang="en-US"/>
              <a:t> </a:t>
            </a:r>
            <a:r>
              <a:rPr lang="en-US" err="1"/>
              <a:t>sürdürülebilir</a:t>
            </a:r>
            <a:r>
              <a:rPr lang="en-US"/>
              <a:t> hale </a:t>
            </a:r>
            <a:r>
              <a:rPr lang="en-US" err="1"/>
              <a:t>getirmek</a:t>
            </a:r>
            <a:r>
              <a:rPr lang="en-US"/>
              <a:t>.</a:t>
            </a:r>
          </a:p>
        </p:txBody>
      </p:sp>
    </p:spTree>
    <p:extLst>
      <p:ext uri="{BB962C8B-B14F-4D97-AF65-F5344CB8AC3E}">
        <p14:creationId xmlns:p14="http://schemas.microsoft.com/office/powerpoint/2010/main" val="1518150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FD2B90-F168-6077-629F-56D507266DB2}"/>
              </a:ext>
            </a:extLst>
          </p:cNvPr>
          <p:cNvPicPr>
            <a:picLocks noGrp="1" noChangeAspect="1"/>
          </p:cNvPicPr>
          <p:nvPr>
            <p:ph sz="half" idx="1"/>
          </p:nvPr>
        </p:nvPicPr>
        <p:blipFill>
          <a:blip r:embed="rId2"/>
          <a:stretch>
            <a:fillRect/>
          </a:stretch>
        </p:blipFill>
        <p:spPr>
          <a:xfrm>
            <a:off x="612648" y="713377"/>
            <a:ext cx="5181600" cy="4897375"/>
          </a:xfrm>
          <a:prstGeom prst="rect">
            <a:avLst/>
          </a:prstGeom>
        </p:spPr>
      </p:pic>
      <p:sp>
        <p:nvSpPr>
          <p:cNvPr id="4" name="Content Placeholder 3">
            <a:extLst>
              <a:ext uri="{FF2B5EF4-FFF2-40B4-BE49-F238E27FC236}">
                <a16:creationId xmlns:a16="http://schemas.microsoft.com/office/drawing/2014/main" id="{45643E67-83DC-812D-C37A-8D29875BAD76}"/>
              </a:ext>
            </a:extLst>
          </p:cNvPr>
          <p:cNvSpPr>
            <a:spLocks noGrp="1"/>
          </p:cNvSpPr>
          <p:nvPr>
            <p:ph sz="half" idx="2"/>
          </p:nvPr>
        </p:nvSpPr>
        <p:spPr>
          <a:xfrm>
            <a:off x="6100120" y="692923"/>
            <a:ext cx="5253680" cy="4897094"/>
          </a:xfrm>
        </p:spPr>
        <p:txBody>
          <a:bodyPr vert="horz" lIns="91440" tIns="45720" rIns="91440" bIns="45720" rtlCol="0" anchor="t">
            <a:normAutofit/>
          </a:bodyPr>
          <a:lstStyle/>
          <a:p>
            <a:r>
              <a:rPr lang="en-US" err="1"/>
              <a:t>Asistanın</a:t>
            </a:r>
            <a:r>
              <a:rPr lang="en-US"/>
              <a:t> </a:t>
            </a:r>
            <a:r>
              <a:rPr lang="en-US" err="1"/>
              <a:t>Davranışlarını</a:t>
            </a:r>
            <a:r>
              <a:rPr lang="en-US"/>
              <a:t> </a:t>
            </a:r>
            <a:r>
              <a:rPr lang="en-US" err="1"/>
              <a:t>belirliyoruz</a:t>
            </a:r>
            <a:r>
              <a:rPr lang="en-US"/>
              <a:t>. </a:t>
            </a:r>
            <a:r>
              <a:rPr lang="en-US" err="1"/>
              <a:t>Kullanıcı</a:t>
            </a:r>
            <a:r>
              <a:rPr lang="en-US"/>
              <a:t> </a:t>
            </a:r>
            <a:r>
              <a:rPr lang="en-US" err="1"/>
              <a:t>ile</a:t>
            </a:r>
            <a:r>
              <a:rPr lang="en-US"/>
              <a:t> </a:t>
            </a:r>
            <a:r>
              <a:rPr lang="en-US" err="1"/>
              <a:t>iletişimde</a:t>
            </a:r>
            <a:r>
              <a:rPr lang="en-US"/>
              <a:t> </a:t>
            </a:r>
            <a:r>
              <a:rPr lang="en-US" err="1"/>
              <a:t>sıcak</a:t>
            </a:r>
            <a:r>
              <a:rPr lang="en-US"/>
              <a:t> </a:t>
            </a:r>
            <a:r>
              <a:rPr lang="en-US" err="1"/>
              <a:t>davranmasını</a:t>
            </a:r>
            <a:r>
              <a:rPr lang="en-US"/>
              <a:t> </a:t>
            </a:r>
            <a:r>
              <a:rPr lang="en-US" err="1"/>
              <a:t>ve</a:t>
            </a:r>
            <a:r>
              <a:rPr lang="en-US"/>
              <a:t> </a:t>
            </a:r>
            <a:r>
              <a:rPr lang="en-US" err="1"/>
              <a:t>kullanıcıdan</a:t>
            </a:r>
            <a:r>
              <a:rPr lang="en-US"/>
              <a:t> </a:t>
            </a:r>
            <a:r>
              <a:rPr lang="en-US" err="1"/>
              <a:t>su</a:t>
            </a:r>
            <a:r>
              <a:rPr lang="en-US"/>
              <a:t> </a:t>
            </a:r>
            <a:r>
              <a:rPr lang="en-US" err="1"/>
              <a:t>kullanımına</a:t>
            </a:r>
            <a:r>
              <a:rPr lang="en-US"/>
              <a:t> </a:t>
            </a:r>
            <a:r>
              <a:rPr lang="en-US" err="1"/>
              <a:t>dair</a:t>
            </a:r>
            <a:r>
              <a:rPr lang="en-US"/>
              <a:t> </a:t>
            </a:r>
            <a:r>
              <a:rPr lang="en-US" err="1"/>
              <a:t>verilerini</a:t>
            </a:r>
            <a:r>
              <a:rPr lang="en-US"/>
              <a:t> </a:t>
            </a:r>
            <a:r>
              <a:rPr lang="en-US" err="1"/>
              <a:t>talep</a:t>
            </a:r>
            <a:r>
              <a:rPr lang="en-US"/>
              <a:t> </a:t>
            </a:r>
            <a:r>
              <a:rPr lang="en-US" err="1"/>
              <a:t>etmesini</a:t>
            </a:r>
            <a:r>
              <a:rPr lang="en-US"/>
              <a:t> </a:t>
            </a:r>
            <a:r>
              <a:rPr lang="en-US" err="1"/>
              <a:t>söylüyoruz</a:t>
            </a:r>
            <a:r>
              <a:rPr lang="en-US"/>
              <a:t>.</a:t>
            </a:r>
          </a:p>
        </p:txBody>
      </p:sp>
    </p:spTree>
    <p:extLst>
      <p:ext uri="{BB962C8B-B14F-4D97-AF65-F5344CB8AC3E}">
        <p14:creationId xmlns:p14="http://schemas.microsoft.com/office/powerpoint/2010/main" val="1702164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black screen&#10;&#10;AI-generated content may be incorrect.">
            <a:extLst>
              <a:ext uri="{FF2B5EF4-FFF2-40B4-BE49-F238E27FC236}">
                <a16:creationId xmlns:a16="http://schemas.microsoft.com/office/drawing/2014/main" id="{B313F0ED-16FE-38AB-BF0D-DF09CB94ECEB}"/>
              </a:ext>
            </a:extLst>
          </p:cNvPr>
          <p:cNvPicPr>
            <a:picLocks noGrp="1" noChangeAspect="1"/>
          </p:cNvPicPr>
          <p:nvPr>
            <p:ph sz="half" idx="1"/>
          </p:nvPr>
        </p:nvPicPr>
        <p:blipFill>
          <a:blip r:embed="rId2"/>
          <a:stretch>
            <a:fillRect/>
          </a:stretch>
        </p:blipFill>
        <p:spPr>
          <a:xfrm>
            <a:off x="622945" y="524490"/>
            <a:ext cx="10721545" cy="3267178"/>
          </a:xfrm>
          <a:prstGeom prst="rect">
            <a:avLst/>
          </a:prstGeom>
        </p:spPr>
      </p:pic>
      <p:sp>
        <p:nvSpPr>
          <p:cNvPr id="4" name="Content Placeholder 3">
            <a:extLst>
              <a:ext uri="{FF2B5EF4-FFF2-40B4-BE49-F238E27FC236}">
                <a16:creationId xmlns:a16="http://schemas.microsoft.com/office/drawing/2014/main" id="{3EC02595-ABB3-0AF9-DD8A-584DB0A36B1C}"/>
              </a:ext>
            </a:extLst>
          </p:cNvPr>
          <p:cNvSpPr>
            <a:spLocks noGrp="1"/>
          </p:cNvSpPr>
          <p:nvPr>
            <p:ph sz="half" idx="2"/>
          </p:nvPr>
        </p:nvSpPr>
        <p:spPr>
          <a:xfrm>
            <a:off x="621958" y="4049841"/>
            <a:ext cx="10721545" cy="2127122"/>
          </a:xfrm>
        </p:spPr>
        <p:txBody>
          <a:bodyPr vert="horz" lIns="91440" tIns="45720" rIns="91440" bIns="45720" rtlCol="0" anchor="t">
            <a:normAutofit/>
          </a:bodyPr>
          <a:lstStyle/>
          <a:p>
            <a:r>
              <a:rPr lang="en-US" err="1"/>
              <a:t>Asistanımıza</a:t>
            </a:r>
            <a:r>
              <a:rPr lang="en-US"/>
              <a:t> son </a:t>
            </a:r>
            <a:r>
              <a:rPr lang="en-US" err="1"/>
              <a:t>davranış</a:t>
            </a:r>
            <a:r>
              <a:rPr lang="en-US"/>
              <a:t> </a:t>
            </a:r>
            <a:r>
              <a:rPr lang="en-US" err="1"/>
              <a:t>biçimini</a:t>
            </a:r>
            <a:r>
              <a:rPr lang="en-US"/>
              <a:t> </a:t>
            </a:r>
            <a:r>
              <a:rPr lang="en-US" err="1"/>
              <a:t>belirtiyoruz</a:t>
            </a:r>
            <a:r>
              <a:rPr lang="en-US"/>
              <a:t>: Veri </a:t>
            </a:r>
            <a:r>
              <a:rPr lang="en-US" err="1"/>
              <a:t>sürecini</a:t>
            </a:r>
            <a:r>
              <a:rPr lang="en-US"/>
              <a:t> </a:t>
            </a:r>
            <a:r>
              <a:rPr lang="en-US" err="1"/>
              <a:t>nazikçe</a:t>
            </a:r>
            <a:r>
              <a:rPr lang="en-US"/>
              <a:t> </a:t>
            </a:r>
            <a:r>
              <a:rPr lang="en-US" err="1"/>
              <a:t>ve</a:t>
            </a:r>
            <a:r>
              <a:rPr lang="en-US"/>
              <a:t> </a:t>
            </a:r>
            <a:r>
              <a:rPr lang="en-US" err="1"/>
              <a:t>parçalar</a:t>
            </a:r>
            <a:r>
              <a:rPr lang="en-US"/>
              <a:t> </a:t>
            </a:r>
            <a:r>
              <a:rPr lang="en-US" err="1"/>
              <a:t>halinde</a:t>
            </a:r>
            <a:r>
              <a:rPr lang="en-US"/>
              <a:t> </a:t>
            </a:r>
            <a:r>
              <a:rPr lang="en-US" err="1"/>
              <a:t>yönet</a:t>
            </a:r>
            <a:r>
              <a:rPr lang="en-US"/>
              <a:t>.</a:t>
            </a:r>
          </a:p>
          <a:p>
            <a:r>
              <a:rPr lang="en-US" err="1"/>
              <a:t>Asistanımınızın</a:t>
            </a:r>
            <a:r>
              <a:rPr lang="en-US"/>
              <a:t> </a:t>
            </a:r>
            <a:r>
              <a:rPr lang="en-US" err="1"/>
              <a:t>kullanıcıdan</a:t>
            </a:r>
            <a:r>
              <a:rPr lang="en-US"/>
              <a:t> </a:t>
            </a:r>
            <a:r>
              <a:rPr lang="en-US" err="1"/>
              <a:t>aldığı</a:t>
            </a:r>
            <a:r>
              <a:rPr lang="en-US"/>
              <a:t> </a:t>
            </a:r>
            <a:r>
              <a:rPr lang="en-US" err="1"/>
              <a:t>verileri</a:t>
            </a:r>
            <a:r>
              <a:rPr lang="en-US"/>
              <a:t> </a:t>
            </a:r>
            <a:r>
              <a:rPr lang="en-US" err="1"/>
              <a:t>nasıl</a:t>
            </a:r>
            <a:r>
              <a:rPr lang="en-US"/>
              <a:t> </a:t>
            </a:r>
            <a:r>
              <a:rPr lang="en-US" err="1"/>
              <a:t>analiz</a:t>
            </a:r>
            <a:r>
              <a:rPr lang="en-US"/>
              <a:t> </a:t>
            </a:r>
            <a:r>
              <a:rPr lang="en-US" err="1"/>
              <a:t>etmesi</a:t>
            </a:r>
            <a:r>
              <a:rPr lang="en-US"/>
              <a:t> </a:t>
            </a:r>
            <a:r>
              <a:rPr lang="en-US" err="1"/>
              <a:t>gerektiğini</a:t>
            </a:r>
            <a:r>
              <a:rPr lang="en-US"/>
              <a:t> </a:t>
            </a:r>
            <a:r>
              <a:rPr lang="en-US" err="1"/>
              <a:t>ve</a:t>
            </a:r>
            <a:r>
              <a:rPr lang="en-US"/>
              <a:t> </a:t>
            </a:r>
            <a:r>
              <a:rPr lang="en-US" err="1"/>
              <a:t>bu</a:t>
            </a:r>
            <a:r>
              <a:rPr lang="en-US"/>
              <a:t> </a:t>
            </a:r>
            <a:r>
              <a:rPr lang="en-US" err="1"/>
              <a:t>verileri</a:t>
            </a:r>
            <a:r>
              <a:rPr lang="en-US"/>
              <a:t> </a:t>
            </a:r>
            <a:r>
              <a:rPr lang="en-US" err="1"/>
              <a:t>önerilen</a:t>
            </a:r>
            <a:r>
              <a:rPr lang="en-US"/>
              <a:t> </a:t>
            </a:r>
            <a:r>
              <a:rPr lang="en-US" err="1"/>
              <a:t>değerlerle</a:t>
            </a:r>
            <a:r>
              <a:rPr lang="en-US"/>
              <a:t> </a:t>
            </a:r>
            <a:r>
              <a:rPr lang="en-US" err="1"/>
              <a:t>karşılaştırarak</a:t>
            </a:r>
            <a:r>
              <a:rPr lang="en-US"/>
              <a:t> </a:t>
            </a:r>
            <a:r>
              <a:rPr lang="en-US" err="1"/>
              <a:t>kullanıcıya</a:t>
            </a:r>
            <a:r>
              <a:rPr lang="en-US"/>
              <a:t> </a:t>
            </a:r>
            <a:r>
              <a:rPr lang="en-US" err="1"/>
              <a:t>spesifik</a:t>
            </a:r>
            <a:r>
              <a:rPr lang="en-US"/>
              <a:t> </a:t>
            </a:r>
            <a:r>
              <a:rPr lang="en-US" err="1"/>
              <a:t>önerilerde</a:t>
            </a:r>
            <a:r>
              <a:rPr lang="en-US"/>
              <a:t> </a:t>
            </a:r>
            <a:r>
              <a:rPr lang="en-US" err="1"/>
              <a:t>bulunmasını</a:t>
            </a:r>
            <a:r>
              <a:rPr lang="en-US"/>
              <a:t> </a:t>
            </a:r>
            <a:r>
              <a:rPr lang="en-US" err="1"/>
              <a:t>söylüyoruz</a:t>
            </a:r>
            <a:r>
              <a:rPr lang="en-US"/>
              <a:t>.</a:t>
            </a:r>
          </a:p>
        </p:txBody>
      </p:sp>
    </p:spTree>
    <p:extLst>
      <p:ext uri="{BB962C8B-B14F-4D97-AF65-F5344CB8AC3E}">
        <p14:creationId xmlns:p14="http://schemas.microsoft.com/office/powerpoint/2010/main" val="205323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B7C5047-95D1-8A4B-B0D5-49AB7BB97521}"/>
              </a:ext>
            </a:extLst>
          </p:cNvPr>
          <p:cNvPicPr>
            <a:picLocks noGrp="1" noChangeAspect="1"/>
          </p:cNvPicPr>
          <p:nvPr>
            <p:ph sz="half" idx="1"/>
          </p:nvPr>
        </p:nvPicPr>
        <p:blipFill>
          <a:blip r:embed="rId2"/>
          <a:stretch>
            <a:fillRect/>
          </a:stretch>
        </p:blipFill>
        <p:spPr>
          <a:xfrm>
            <a:off x="424909" y="1328400"/>
            <a:ext cx="5667513" cy="4208309"/>
          </a:xfrm>
          <a:prstGeom prst="rect">
            <a:avLst/>
          </a:prstGeom>
        </p:spPr>
      </p:pic>
      <p:sp>
        <p:nvSpPr>
          <p:cNvPr id="4" name="Content Placeholder 3">
            <a:extLst>
              <a:ext uri="{FF2B5EF4-FFF2-40B4-BE49-F238E27FC236}">
                <a16:creationId xmlns:a16="http://schemas.microsoft.com/office/drawing/2014/main" id="{29AB15A4-1095-717A-8575-FF5465275504}"/>
              </a:ext>
            </a:extLst>
          </p:cNvPr>
          <p:cNvSpPr>
            <a:spLocks noGrp="1"/>
          </p:cNvSpPr>
          <p:nvPr>
            <p:ph sz="half" idx="2"/>
          </p:nvPr>
        </p:nvSpPr>
        <p:spPr>
          <a:xfrm>
            <a:off x="6337852" y="1328668"/>
            <a:ext cx="5181600" cy="4351338"/>
          </a:xfrm>
        </p:spPr>
        <p:txBody>
          <a:bodyPr vert="horz" lIns="91440" tIns="45720" rIns="91440" bIns="45720" rtlCol="0" anchor="t">
            <a:normAutofit/>
          </a:bodyPr>
          <a:lstStyle/>
          <a:p>
            <a:r>
              <a:rPr lang="en-US" err="1"/>
              <a:t>Asistanımıza</a:t>
            </a:r>
            <a:r>
              <a:rPr lang="en-US"/>
              <a:t>, </a:t>
            </a:r>
            <a:r>
              <a:rPr lang="en-US" err="1"/>
              <a:t>kullanıcıya</a:t>
            </a:r>
            <a:r>
              <a:rPr lang="en-US"/>
              <a:t> </a:t>
            </a:r>
            <a:r>
              <a:rPr lang="en-US" err="1"/>
              <a:t>önerdiği</a:t>
            </a:r>
            <a:r>
              <a:rPr lang="en-US"/>
              <a:t> </a:t>
            </a:r>
            <a:r>
              <a:rPr lang="en-US" err="1"/>
              <a:t>önerileri</a:t>
            </a:r>
            <a:r>
              <a:rPr lang="en-US"/>
              <a:t> </a:t>
            </a:r>
            <a:r>
              <a:rPr lang="en-US" err="1"/>
              <a:t>kullanıcının</a:t>
            </a:r>
            <a:r>
              <a:rPr lang="en-US"/>
              <a:t> </a:t>
            </a:r>
            <a:r>
              <a:rPr lang="en-US" err="1"/>
              <a:t>yapması</a:t>
            </a:r>
            <a:r>
              <a:rPr lang="en-US"/>
              <a:t> </a:t>
            </a:r>
            <a:r>
              <a:rPr lang="en-US" err="1"/>
              <a:t>sonucunda</a:t>
            </a:r>
            <a:r>
              <a:rPr lang="en-US"/>
              <a:t> ne </a:t>
            </a:r>
            <a:r>
              <a:rPr lang="en-US" err="1"/>
              <a:t>kadar</a:t>
            </a:r>
            <a:r>
              <a:rPr lang="en-US"/>
              <a:t> </a:t>
            </a:r>
            <a:r>
              <a:rPr lang="en-US" err="1"/>
              <a:t>su</a:t>
            </a:r>
            <a:r>
              <a:rPr lang="en-US"/>
              <a:t> </a:t>
            </a:r>
            <a:r>
              <a:rPr lang="en-US" err="1"/>
              <a:t>tasarrufu</a:t>
            </a:r>
            <a:r>
              <a:rPr lang="en-US"/>
              <a:t> </a:t>
            </a:r>
            <a:r>
              <a:rPr lang="en-US" err="1"/>
              <a:t>yapabileceğini</a:t>
            </a:r>
            <a:r>
              <a:rPr lang="en-US"/>
              <a:t> </a:t>
            </a:r>
            <a:r>
              <a:rPr lang="en-US" err="1"/>
              <a:t>belirtmesini</a:t>
            </a:r>
            <a:r>
              <a:rPr lang="en-US"/>
              <a:t> </a:t>
            </a:r>
            <a:r>
              <a:rPr lang="en-US" err="1"/>
              <a:t>ve</a:t>
            </a:r>
            <a:r>
              <a:rPr lang="en-US"/>
              <a:t> </a:t>
            </a:r>
            <a:r>
              <a:rPr lang="en-US" err="1"/>
              <a:t>kademeli</a:t>
            </a:r>
            <a:r>
              <a:rPr lang="en-US"/>
              <a:t> </a:t>
            </a:r>
            <a:r>
              <a:rPr lang="en-US" err="1"/>
              <a:t>bir</a:t>
            </a:r>
            <a:r>
              <a:rPr lang="en-US"/>
              <a:t> plan </a:t>
            </a:r>
            <a:r>
              <a:rPr lang="en-US" err="1"/>
              <a:t>sunarak</a:t>
            </a:r>
            <a:r>
              <a:rPr lang="en-US"/>
              <a:t> </a:t>
            </a:r>
            <a:r>
              <a:rPr lang="en-US" err="1"/>
              <a:t>sürdürülebilir</a:t>
            </a:r>
            <a:r>
              <a:rPr lang="en-US"/>
              <a:t> </a:t>
            </a:r>
            <a:r>
              <a:rPr lang="en-US" err="1"/>
              <a:t>bir</a:t>
            </a:r>
            <a:r>
              <a:rPr lang="en-US"/>
              <a:t> program </a:t>
            </a:r>
            <a:r>
              <a:rPr lang="en-US" err="1"/>
              <a:t>oluşturmasını</a:t>
            </a:r>
            <a:r>
              <a:rPr lang="en-US"/>
              <a:t> </a:t>
            </a:r>
            <a:r>
              <a:rPr lang="en-US" err="1"/>
              <a:t>söylüyoruz</a:t>
            </a:r>
            <a:r>
              <a:rPr lang="en-US"/>
              <a:t>. </a:t>
            </a:r>
          </a:p>
          <a:p>
            <a:r>
              <a:rPr lang="en-US" err="1"/>
              <a:t>Kullanıcıdan</a:t>
            </a:r>
            <a:r>
              <a:rPr lang="en-US"/>
              <a:t> </a:t>
            </a:r>
            <a:r>
              <a:rPr lang="en-US" err="1"/>
              <a:t>aldığı</a:t>
            </a:r>
            <a:r>
              <a:rPr lang="en-US"/>
              <a:t> </a:t>
            </a:r>
            <a:r>
              <a:rPr lang="en-US" err="1"/>
              <a:t>geri</a:t>
            </a:r>
            <a:r>
              <a:rPr lang="en-US"/>
              <a:t> </a:t>
            </a:r>
            <a:r>
              <a:rPr lang="en-US" err="1"/>
              <a:t>bildirimler</a:t>
            </a:r>
            <a:r>
              <a:rPr lang="en-US"/>
              <a:t> </a:t>
            </a:r>
            <a:r>
              <a:rPr lang="en-US" err="1"/>
              <a:t>ile</a:t>
            </a:r>
            <a:r>
              <a:rPr lang="en-US"/>
              <a:t> </a:t>
            </a:r>
            <a:r>
              <a:rPr lang="en-US" err="1"/>
              <a:t>uzun</a:t>
            </a:r>
            <a:r>
              <a:rPr lang="en-US"/>
              <a:t> </a:t>
            </a:r>
            <a:r>
              <a:rPr lang="en-US" err="1"/>
              <a:t>vaadeli</a:t>
            </a:r>
            <a:r>
              <a:rPr lang="en-US"/>
              <a:t> </a:t>
            </a:r>
            <a:r>
              <a:rPr lang="en-US" err="1"/>
              <a:t>tasarruf</a:t>
            </a:r>
            <a:r>
              <a:rPr lang="en-US"/>
              <a:t> </a:t>
            </a:r>
            <a:r>
              <a:rPr lang="en-US" err="1"/>
              <a:t>hesaplamaları</a:t>
            </a:r>
            <a:r>
              <a:rPr lang="en-US"/>
              <a:t> </a:t>
            </a:r>
            <a:r>
              <a:rPr lang="en-US" err="1"/>
              <a:t>yapmasını</a:t>
            </a:r>
            <a:r>
              <a:rPr lang="en-US"/>
              <a:t> </a:t>
            </a:r>
            <a:r>
              <a:rPr lang="en-US" err="1"/>
              <a:t>söylüyoruz</a:t>
            </a:r>
            <a:r>
              <a:rPr lang="en-US"/>
              <a:t>.</a:t>
            </a:r>
          </a:p>
        </p:txBody>
      </p:sp>
    </p:spTree>
    <p:extLst>
      <p:ext uri="{BB962C8B-B14F-4D97-AF65-F5344CB8AC3E}">
        <p14:creationId xmlns:p14="http://schemas.microsoft.com/office/powerpoint/2010/main" val="2825333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4C296F9-6E4B-7AFC-2C30-7B1559D24250}"/>
              </a:ext>
            </a:extLst>
          </p:cNvPr>
          <p:cNvPicPr>
            <a:picLocks noGrp="1" noChangeAspect="1"/>
          </p:cNvPicPr>
          <p:nvPr>
            <p:ph sz="half" idx="1"/>
          </p:nvPr>
        </p:nvPicPr>
        <p:blipFill>
          <a:blip r:embed="rId2"/>
          <a:stretch>
            <a:fillRect/>
          </a:stretch>
        </p:blipFill>
        <p:spPr>
          <a:xfrm>
            <a:off x="502213" y="242466"/>
            <a:ext cx="5811077" cy="2945658"/>
          </a:xfrm>
          <a:prstGeom prst="rect">
            <a:avLst/>
          </a:prstGeom>
        </p:spPr>
      </p:pic>
      <p:sp>
        <p:nvSpPr>
          <p:cNvPr id="4" name="Content Placeholder 3">
            <a:extLst>
              <a:ext uri="{FF2B5EF4-FFF2-40B4-BE49-F238E27FC236}">
                <a16:creationId xmlns:a16="http://schemas.microsoft.com/office/drawing/2014/main" id="{DE53C504-4C32-15F6-F4FD-A5C6E5597529}"/>
              </a:ext>
            </a:extLst>
          </p:cNvPr>
          <p:cNvSpPr>
            <a:spLocks noGrp="1"/>
          </p:cNvSpPr>
          <p:nvPr>
            <p:ph sz="half" idx="2"/>
          </p:nvPr>
        </p:nvSpPr>
        <p:spPr>
          <a:xfrm>
            <a:off x="4769679" y="3426928"/>
            <a:ext cx="6584121" cy="2750035"/>
          </a:xfrm>
        </p:spPr>
        <p:txBody>
          <a:bodyPr vert="horz" lIns="91440" tIns="45720" rIns="91440" bIns="45720" rtlCol="0" anchor="t">
            <a:normAutofit/>
          </a:bodyPr>
          <a:lstStyle/>
          <a:p>
            <a:r>
              <a:rPr lang="en-US" err="1"/>
              <a:t>Asistanımıza</a:t>
            </a:r>
            <a:r>
              <a:rPr lang="en-US"/>
              <a:t>, </a:t>
            </a:r>
            <a:r>
              <a:rPr lang="en-US" err="1"/>
              <a:t>kullanıcı</a:t>
            </a:r>
            <a:r>
              <a:rPr lang="en-US"/>
              <a:t> </a:t>
            </a:r>
            <a:r>
              <a:rPr lang="en-US" err="1"/>
              <a:t>ile</a:t>
            </a:r>
            <a:r>
              <a:rPr lang="en-US"/>
              <a:t> </a:t>
            </a:r>
            <a:r>
              <a:rPr lang="en-US" err="1"/>
              <a:t>iletişimde</a:t>
            </a:r>
            <a:r>
              <a:rPr lang="en-US"/>
              <a:t> hangi </a:t>
            </a:r>
            <a:r>
              <a:rPr lang="en-US" err="1"/>
              <a:t>maddelere</a:t>
            </a:r>
            <a:r>
              <a:rPr lang="en-US"/>
              <a:t> </a:t>
            </a:r>
            <a:r>
              <a:rPr lang="en-US" err="1"/>
              <a:t>göre</a:t>
            </a:r>
            <a:r>
              <a:rPr lang="en-US"/>
              <a:t> </a:t>
            </a:r>
            <a:r>
              <a:rPr lang="en-US" err="1"/>
              <a:t>ilerlemesi</a:t>
            </a:r>
            <a:r>
              <a:rPr lang="en-US"/>
              <a:t> </a:t>
            </a:r>
            <a:r>
              <a:rPr lang="en-US" err="1"/>
              <a:t>gerektiğini</a:t>
            </a:r>
            <a:r>
              <a:rPr lang="en-US"/>
              <a:t> </a:t>
            </a:r>
            <a:r>
              <a:rPr lang="en-US" err="1"/>
              <a:t>söylüyoruz</a:t>
            </a:r>
            <a:r>
              <a:rPr lang="en-US"/>
              <a:t>. İlk </a:t>
            </a:r>
            <a:r>
              <a:rPr lang="en-US" err="1"/>
              <a:t>maddede</a:t>
            </a:r>
            <a:r>
              <a:rPr lang="en-US"/>
              <a:t> </a:t>
            </a:r>
            <a:r>
              <a:rPr lang="en-US" err="1"/>
              <a:t>kullanıcıdan</a:t>
            </a:r>
            <a:r>
              <a:rPr lang="en-US"/>
              <a:t> </a:t>
            </a:r>
            <a:r>
              <a:rPr lang="en-US" err="1"/>
              <a:t>aldığı</a:t>
            </a:r>
            <a:r>
              <a:rPr lang="en-US"/>
              <a:t> </a:t>
            </a:r>
            <a:r>
              <a:rPr lang="en-US" err="1"/>
              <a:t>verilerle</a:t>
            </a:r>
            <a:r>
              <a:rPr lang="en-US"/>
              <a:t> </a:t>
            </a:r>
            <a:r>
              <a:rPr lang="en-US" err="1"/>
              <a:t>su</a:t>
            </a:r>
            <a:r>
              <a:rPr lang="en-US"/>
              <a:t> </a:t>
            </a:r>
            <a:r>
              <a:rPr lang="en-US" err="1"/>
              <a:t>tasarrufu</a:t>
            </a:r>
            <a:r>
              <a:rPr lang="en-US"/>
              <a:t> </a:t>
            </a:r>
            <a:r>
              <a:rPr lang="en-US" err="1"/>
              <a:t>miktarını</a:t>
            </a:r>
            <a:r>
              <a:rPr lang="en-US"/>
              <a:t> </a:t>
            </a:r>
            <a:r>
              <a:rPr lang="en-US" err="1"/>
              <a:t>hesaplamasını</a:t>
            </a:r>
            <a:r>
              <a:rPr lang="en-US"/>
              <a:t>, </a:t>
            </a:r>
            <a:r>
              <a:rPr lang="en-US" err="1"/>
              <a:t>ikinici</a:t>
            </a:r>
            <a:r>
              <a:rPr lang="en-US"/>
              <a:t> </a:t>
            </a:r>
            <a:r>
              <a:rPr lang="en-US" err="1"/>
              <a:t>maddede</a:t>
            </a:r>
            <a:r>
              <a:rPr lang="en-US"/>
              <a:t> </a:t>
            </a:r>
            <a:r>
              <a:rPr lang="en-US" err="1"/>
              <a:t>bunu</a:t>
            </a:r>
            <a:r>
              <a:rPr lang="en-US"/>
              <a:t> </a:t>
            </a:r>
            <a:r>
              <a:rPr lang="en-US" err="1"/>
              <a:t>görselleştirerek</a:t>
            </a:r>
            <a:r>
              <a:rPr lang="en-US"/>
              <a:t> </a:t>
            </a:r>
            <a:r>
              <a:rPr lang="en-US" err="1"/>
              <a:t>kullanıcıya</a:t>
            </a:r>
            <a:r>
              <a:rPr lang="en-US"/>
              <a:t> </a:t>
            </a:r>
            <a:r>
              <a:rPr lang="en-US" err="1"/>
              <a:t>onu</a:t>
            </a:r>
            <a:r>
              <a:rPr lang="en-US"/>
              <a:t> </a:t>
            </a:r>
            <a:r>
              <a:rPr lang="en-US" err="1"/>
              <a:t>daha</a:t>
            </a:r>
            <a:r>
              <a:rPr lang="en-US"/>
              <a:t> motive </a:t>
            </a:r>
            <a:r>
              <a:rPr lang="en-US" err="1"/>
              <a:t>edecek</a:t>
            </a:r>
            <a:r>
              <a:rPr lang="en-US"/>
              <a:t> </a:t>
            </a:r>
            <a:r>
              <a:rPr lang="en-US" err="1"/>
              <a:t>şekilde</a:t>
            </a:r>
            <a:r>
              <a:rPr lang="en-US"/>
              <a:t> </a:t>
            </a:r>
            <a:r>
              <a:rPr lang="en-US" err="1"/>
              <a:t>sunmasını</a:t>
            </a:r>
            <a:r>
              <a:rPr lang="en-US"/>
              <a:t> </a:t>
            </a:r>
            <a:r>
              <a:rPr lang="en-US" err="1"/>
              <a:t>ve</a:t>
            </a:r>
            <a:r>
              <a:rPr lang="en-US"/>
              <a:t> </a:t>
            </a:r>
            <a:r>
              <a:rPr lang="en-US" err="1"/>
              <a:t>üçüncü</a:t>
            </a:r>
            <a:r>
              <a:rPr lang="en-US"/>
              <a:t> </a:t>
            </a:r>
            <a:r>
              <a:rPr lang="en-US" err="1"/>
              <a:t>maddede</a:t>
            </a:r>
            <a:r>
              <a:rPr lang="en-US"/>
              <a:t> </a:t>
            </a:r>
            <a:r>
              <a:rPr lang="en-US" err="1"/>
              <a:t>bunu</a:t>
            </a:r>
            <a:r>
              <a:rPr lang="en-US"/>
              <a:t> </a:t>
            </a:r>
            <a:r>
              <a:rPr lang="en-US" err="1"/>
              <a:t>bir</a:t>
            </a:r>
            <a:r>
              <a:rPr lang="en-US"/>
              <a:t> </a:t>
            </a:r>
            <a:r>
              <a:rPr lang="en-US" err="1"/>
              <a:t>döngüde</a:t>
            </a:r>
            <a:r>
              <a:rPr lang="en-US"/>
              <a:t> </a:t>
            </a:r>
            <a:r>
              <a:rPr lang="en-US" err="1"/>
              <a:t>yapmasını</a:t>
            </a:r>
            <a:r>
              <a:rPr lang="en-US"/>
              <a:t> </a:t>
            </a:r>
            <a:r>
              <a:rPr lang="en-US" err="1"/>
              <a:t>belirtiyoruz</a:t>
            </a:r>
            <a:r>
              <a:rPr lang="en-US"/>
              <a:t>.</a:t>
            </a:r>
          </a:p>
        </p:txBody>
      </p:sp>
    </p:spTree>
    <p:extLst>
      <p:ext uri="{BB962C8B-B14F-4D97-AF65-F5344CB8AC3E}">
        <p14:creationId xmlns:p14="http://schemas.microsoft.com/office/powerpoint/2010/main" val="2969700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EAFAB08-1D59-DBC7-B13F-13F9822A3C54}"/>
              </a:ext>
            </a:extLst>
          </p:cNvPr>
          <p:cNvPicPr>
            <a:picLocks noGrp="1" noChangeAspect="1"/>
          </p:cNvPicPr>
          <p:nvPr>
            <p:ph sz="half" idx="1"/>
          </p:nvPr>
        </p:nvPicPr>
        <p:blipFill>
          <a:blip r:embed="rId2"/>
          <a:stretch>
            <a:fillRect/>
          </a:stretch>
        </p:blipFill>
        <p:spPr>
          <a:xfrm>
            <a:off x="612648" y="982834"/>
            <a:ext cx="5181600" cy="4612311"/>
          </a:xfrm>
          <a:prstGeom prst="rect">
            <a:avLst/>
          </a:prstGeom>
        </p:spPr>
      </p:pic>
      <p:sp>
        <p:nvSpPr>
          <p:cNvPr id="4" name="Content Placeholder 3">
            <a:extLst>
              <a:ext uri="{FF2B5EF4-FFF2-40B4-BE49-F238E27FC236}">
                <a16:creationId xmlns:a16="http://schemas.microsoft.com/office/drawing/2014/main" id="{0EF1A726-E6C4-CF03-86B8-67B65C2B04E9}"/>
              </a:ext>
            </a:extLst>
          </p:cNvPr>
          <p:cNvSpPr>
            <a:spLocks noGrp="1"/>
          </p:cNvSpPr>
          <p:nvPr>
            <p:ph sz="half" idx="2"/>
          </p:nvPr>
        </p:nvSpPr>
        <p:spPr>
          <a:xfrm>
            <a:off x="6094897" y="986320"/>
            <a:ext cx="5258903" cy="4616383"/>
          </a:xfrm>
        </p:spPr>
        <p:txBody>
          <a:bodyPr vert="horz" lIns="91440" tIns="45720" rIns="91440" bIns="45720" rtlCol="0" anchor="t">
            <a:normAutofit/>
          </a:bodyPr>
          <a:lstStyle/>
          <a:p>
            <a:r>
              <a:rPr lang="en-US" err="1"/>
              <a:t>Burada</a:t>
            </a:r>
            <a:r>
              <a:rPr lang="en-US"/>
              <a:t> </a:t>
            </a:r>
            <a:r>
              <a:rPr lang="en-US" err="1"/>
              <a:t>Asistanımızın</a:t>
            </a:r>
            <a:r>
              <a:rPr lang="en-US"/>
              <a:t> </a:t>
            </a:r>
            <a:r>
              <a:rPr lang="en-US" err="1"/>
              <a:t>kullanıcı</a:t>
            </a:r>
            <a:r>
              <a:rPr lang="en-US"/>
              <a:t> </a:t>
            </a:r>
            <a:r>
              <a:rPr lang="en-US" err="1"/>
              <a:t>ile</a:t>
            </a:r>
            <a:r>
              <a:rPr lang="en-US"/>
              <a:t> </a:t>
            </a:r>
            <a:r>
              <a:rPr lang="en-US" err="1"/>
              <a:t>iletişiminde</a:t>
            </a:r>
            <a:r>
              <a:rPr lang="en-US"/>
              <a:t> </a:t>
            </a:r>
            <a:r>
              <a:rPr lang="en-US" err="1"/>
              <a:t>dikkat</a:t>
            </a:r>
            <a:r>
              <a:rPr lang="en-US"/>
              <a:t> </a:t>
            </a:r>
            <a:r>
              <a:rPr lang="en-US" err="1"/>
              <a:t>etmesi</a:t>
            </a:r>
            <a:r>
              <a:rPr lang="en-US"/>
              <a:t> </a:t>
            </a:r>
            <a:r>
              <a:rPr lang="en-US" err="1"/>
              <a:t>gereken</a:t>
            </a:r>
            <a:r>
              <a:rPr lang="en-US"/>
              <a:t> </a:t>
            </a:r>
            <a:r>
              <a:rPr lang="en-US" err="1"/>
              <a:t>hususları</a:t>
            </a:r>
            <a:r>
              <a:rPr lang="en-US"/>
              <a:t> </a:t>
            </a:r>
            <a:r>
              <a:rPr lang="en-US" err="1"/>
              <a:t>belirtiyoruz</a:t>
            </a:r>
            <a:r>
              <a:rPr lang="en-US"/>
              <a:t>.</a:t>
            </a:r>
          </a:p>
        </p:txBody>
      </p:sp>
    </p:spTree>
    <p:extLst>
      <p:ext uri="{BB962C8B-B14F-4D97-AF65-F5344CB8AC3E}">
        <p14:creationId xmlns:p14="http://schemas.microsoft.com/office/powerpoint/2010/main" val="15354067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12F371-D4D8-8F67-1B04-AE3B0939D92F}"/>
              </a:ext>
            </a:extLst>
          </p:cNvPr>
          <p:cNvPicPr>
            <a:picLocks noGrp="1" noChangeAspect="1"/>
          </p:cNvPicPr>
          <p:nvPr>
            <p:ph sz="half" idx="1"/>
          </p:nvPr>
        </p:nvPicPr>
        <p:blipFill>
          <a:blip r:embed="rId2"/>
          <a:stretch>
            <a:fillRect/>
          </a:stretch>
        </p:blipFill>
        <p:spPr>
          <a:xfrm>
            <a:off x="446996" y="344455"/>
            <a:ext cx="11211337" cy="4961421"/>
          </a:xfrm>
          <a:prstGeom prst="rect">
            <a:avLst/>
          </a:prstGeom>
        </p:spPr>
      </p:pic>
      <p:sp>
        <p:nvSpPr>
          <p:cNvPr id="4" name="Content Placeholder 3">
            <a:extLst>
              <a:ext uri="{FF2B5EF4-FFF2-40B4-BE49-F238E27FC236}">
                <a16:creationId xmlns:a16="http://schemas.microsoft.com/office/drawing/2014/main" id="{98DD7F17-6595-ADB9-DC25-B489D743A2DD}"/>
              </a:ext>
            </a:extLst>
          </p:cNvPr>
          <p:cNvSpPr>
            <a:spLocks noGrp="1"/>
          </p:cNvSpPr>
          <p:nvPr>
            <p:ph sz="half" idx="2"/>
          </p:nvPr>
        </p:nvSpPr>
        <p:spPr>
          <a:xfrm>
            <a:off x="451678" y="5514147"/>
            <a:ext cx="10902122" cy="983076"/>
          </a:xfrm>
        </p:spPr>
        <p:txBody>
          <a:bodyPr vert="horz" lIns="91440" tIns="45720" rIns="91440" bIns="45720" rtlCol="0" anchor="t">
            <a:normAutofit/>
          </a:bodyPr>
          <a:lstStyle/>
          <a:p>
            <a:r>
              <a:rPr lang="en-US"/>
              <a:t>Su </a:t>
            </a:r>
            <a:r>
              <a:rPr lang="en-US" err="1"/>
              <a:t>Asistanının</a:t>
            </a:r>
            <a:r>
              <a:rPr lang="en-US"/>
              <a:t> </a:t>
            </a:r>
            <a:r>
              <a:rPr lang="en-US" err="1"/>
              <a:t>önizlenimi</a:t>
            </a:r>
            <a:r>
              <a:rPr lang="en-US"/>
              <a:t>.</a:t>
            </a:r>
          </a:p>
        </p:txBody>
      </p:sp>
    </p:spTree>
    <p:extLst>
      <p:ext uri="{BB962C8B-B14F-4D97-AF65-F5344CB8AC3E}">
        <p14:creationId xmlns:p14="http://schemas.microsoft.com/office/powerpoint/2010/main" val="2428410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black screen&#10;&#10;AI-generated content may be incorrect.">
            <a:extLst>
              <a:ext uri="{FF2B5EF4-FFF2-40B4-BE49-F238E27FC236}">
                <a16:creationId xmlns:a16="http://schemas.microsoft.com/office/drawing/2014/main" id="{012B41AC-F323-9232-19F1-AB5C326C31E8}"/>
              </a:ext>
            </a:extLst>
          </p:cNvPr>
          <p:cNvPicPr>
            <a:picLocks noGrp="1" noChangeAspect="1"/>
          </p:cNvPicPr>
          <p:nvPr>
            <p:ph sz="half" idx="1"/>
          </p:nvPr>
        </p:nvPicPr>
        <p:blipFill>
          <a:blip r:embed="rId2"/>
          <a:stretch>
            <a:fillRect/>
          </a:stretch>
        </p:blipFill>
        <p:spPr>
          <a:xfrm>
            <a:off x="612648" y="1589615"/>
            <a:ext cx="5181600" cy="3078489"/>
          </a:xfrm>
          <a:prstGeom prst="rect">
            <a:avLst/>
          </a:prstGeom>
        </p:spPr>
      </p:pic>
      <p:sp>
        <p:nvSpPr>
          <p:cNvPr id="4" name="Content Placeholder 3">
            <a:extLst>
              <a:ext uri="{FF2B5EF4-FFF2-40B4-BE49-F238E27FC236}">
                <a16:creationId xmlns:a16="http://schemas.microsoft.com/office/drawing/2014/main" id="{1300DEB6-7F01-59A6-1F9E-ED22B9825483}"/>
              </a:ext>
            </a:extLst>
          </p:cNvPr>
          <p:cNvSpPr>
            <a:spLocks noGrp="1"/>
          </p:cNvSpPr>
          <p:nvPr>
            <p:ph sz="half" idx="2"/>
          </p:nvPr>
        </p:nvSpPr>
        <p:spPr/>
        <p:txBody>
          <a:bodyPr vert="horz" lIns="91440" tIns="45720" rIns="91440" bIns="45720" rtlCol="0" anchor="t">
            <a:normAutofit/>
          </a:bodyPr>
          <a:lstStyle/>
          <a:p>
            <a:r>
              <a:rPr lang="en-US" sz="2400" err="1"/>
              <a:t>Asistanın</a:t>
            </a:r>
            <a:r>
              <a:rPr lang="en-US" sz="2400"/>
              <a:t> </a:t>
            </a:r>
            <a:r>
              <a:rPr lang="en-US" sz="2400" err="1"/>
              <a:t>neler</a:t>
            </a:r>
            <a:r>
              <a:rPr lang="en-US" sz="2400"/>
              <a:t> </a:t>
            </a:r>
            <a:r>
              <a:rPr lang="en-US" sz="2400" err="1"/>
              <a:t>yapacağını</a:t>
            </a:r>
            <a:r>
              <a:rPr lang="en-US" sz="2400"/>
              <a:t> </a:t>
            </a:r>
            <a:r>
              <a:rPr lang="en-US" sz="2400" err="1"/>
              <a:t>tanımlıyoruz.Kullanıcıyla</a:t>
            </a:r>
            <a:r>
              <a:rPr lang="en-US" sz="2400"/>
              <a:t> </a:t>
            </a:r>
            <a:r>
              <a:rPr lang="en-US" sz="2400" err="1"/>
              <a:t>etkileşimde</a:t>
            </a:r>
            <a:r>
              <a:rPr lang="en-US" sz="2400"/>
              <a:t> </a:t>
            </a:r>
            <a:r>
              <a:rPr lang="en-US" sz="2400" err="1"/>
              <a:t>sorması</a:t>
            </a:r>
            <a:r>
              <a:rPr lang="en-US" sz="2400"/>
              <a:t> </a:t>
            </a:r>
            <a:r>
              <a:rPr lang="en-US" sz="2400" err="1"/>
              <a:t>gerekenleri</a:t>
            </a:r>
            <a:r>
              <a:rPr lang="en-US" sz="2400"/>
              <a:t> </a:t>
            </a:r>
            <a:r>
              <a:rPr lang="en-US" sz="2400" err="1"/>
              <a:t>oluşturuyoruz</a:t>
            </a:r>
            <a:r>
              <a:rPr lang="en-US" sz="2400"/>
              <a:t>.</a:t>
            </a:r>
          </a:p>
        </p:txBody>
      </p:sp>
    </p:spTree>
    <p:extLst>
      <p:ext uri="{BB962C8B-B14F-4D97-AF65-F5344CB8AC3E}">
        <p14:creationId xmlns:p14="http://schemas.microsoft.com/office/powerpoint/2010/main" val="15492031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EE27E89-7FA6-3F3A-85FF-81420817E1D2}"/>
              </a:ext>
            </a:extLst>
          </p:cNvPr>
          <p:cNvSpPr>
            <a:spLocks noGrp="1"/>
          </p:cNvSpPr>
          <p:nvPr>
            <p:ph type="title"/>
          </p:nvPr>
        </p:nvSpPr>
        <p:spPr/>
        <p:txBody>
          <a:bodyPr/>
          <a:lstStyle/>
          <a:p>
            <a:r>
              <a:rPr lang="tr-TR"/>
              <a:t>Oluşturulan Su Asistanı İle Kullanıcının Etkileşimi</a:t>
            </a:r>
          </a:p>
        </p:txBody>
      </p:sp>
      <p:pic>
        <p:nvPicPr>
          <p:cNvPr id="5" name="İçerik Yer Tutucusu 4" descr="metin, ekran görüntüsü, yazı tipi içeren bir resim&#10;&#10;Yapay zeka tarafından oluşturulmuş içerik yanlış olabilir.">
            <a:extLst>
              <a:ext uri="{FF2B5EF4-FFF2-40B4-BE49-F238E27FC236}">
                <a16:creationId xmlns:a16="http://schemas.microsoft.com/office/drawing/2014/main" id="{0E81EC07-B09B-1713-2EFD-9A121CCE3CBF}"/>
              </a:ext>
            </a:extLst>
          </p:cNvPr>
          <p:cNvPicPr>
            <a:picLocks noGrp="1" noChangeAspect="1"/>
          </p:cNvPicPr>
          <p:nvPr>
            <p:ph sz="half" idx="1"/>
          </p:nvPr>
        </p:nvPicPr>
        <p:blipFill>
          <a:blip r:embed="rId2"/>
          <a:stretch>
            <a:fillRect/>
          </a:stretch>
        </p:blipFill>
        <p:spPr>
          <a:xfrm>
            <a:off x="612648" y="3577406"/>
            <a:ext cx="4701436" cy="3018956"/>
          </a:xfrm>
          <a:prstGeom prst="rect">
            <a:avLst/>
          </a:prstGeom>
        </p:spPr>
      </p:pic>
      <p:sp>
        <p:nvSpPr>
          <p:cNvPr id="4" name="İçerik Yer Tutucusu 3">
            <a:extLst>
              <a:ext uri="{FF2B5EF4-FFF2-40B4-BE49-F238E27FC236}">
                <a16:creationId xmlns:a16="http://schemas.microsoft.com/office/drawing/2014/main" id="{12D4481C-DA86-D728-C2CD-B831ED84E0B1}"/>
              </a:ext>
            </a:extLst>
          </p:cNvPr>
          <p:cNvSpPr>
            <a:spLocks noGrp="1"/>
          </p:cNvSpPr>
          <p:nvPr>
            <p:ph sz="half" idx="2"/>
          </p:nvPr>
        </p:nvSpPr>
        <p:spPr>
          <a:xfrm>
            <a:off x="608556" y="1909132"/>
            <a:ext cx="5954038" cy="4351338"/>
          </a:xfrm>
        </p:spPr>
        <p:txBody>
          <a:bodyPr vert="horz" lIns="91440" tIns="45720" rIns="91440" bIns="45720" rtlCol="0" anchor="t">
            <a:normAutofit/>
          </a:bodyPr>
          <a:lstStyle/>
          <a:p>
            <a:r>
              <a:rPr lang="tr-TR"/>
              <a:t>Su Asistanımızın bağlantısı:</a:t>
            </a:r>
          </a:p>
          <a:p>
            <a:r>
              <a:rPr lang="tr-TR">
                <a:ea typeface="+mn-lt"/>
                <a:cs typeface="+mn-lt"/>
              </a:rPr>
              <a:t>https://gemini.google.com/gem/1I8cnZMSlXca_nkjTj-SNI8NWMrShKt0O?usp=sharing</a:t>
            </a:r>
            <a:endParaRPr lang="tr-TR">
              <a:solidFill>
                <a:srgbClr val="000000"/>
              </a:solidFill>
            </a:endParaRPr>
          </a:p>
        </p:txBody>
      </p:sp>
      <p:pic>
        <p:nvPicPr>
          <p:cNvPr id="6" name="Resim 5" descr="metin, ekran görüntüsü, yazı tipi içeren bir resim&#10;&#10;Yapay zeka tarafından oluşturulmuş içerik yanlış olabilir.">
            <a:extLst>
              <a:ext uri="{FF2B5EF4-FFF2-40B4-BE49-F238E27FC236}">
                <a16:creationId xmlns:a16="http://schemas.microsoft.com/office/drawing/2014/main" id="{B9E031CF-5F40-E551-9E85-EA9CA6830D43}"/>
              </a:ext>
            </a:extLst>
          </p:cNvPr>
          <p:cNvPicPr>
            <a:picLocks noChangeAspect="1"/>
          </p:cNvPicPr>
          <p:nvPr/>
        </p:nvPicPr>
        <p:blipFill>
          <a:blip r:embed="rId3"/>
          <a:stretch>
            <a:fillRect/>
          </a:stretch>
        </p:blipFill>
        <p:spPr>
          <a:xfrm>
            <a:off x="5979157" y="3581204"/>
            <a:ext cx="4899635" cy="3014990"/>
          </a:xfrm>
          <a:prstGeom prst="rect">
            <a:avLst/>
          </a:prstGeom>
        </p:spPr>
      </p:pic>
    </p:spTree>
    <p:extLst>
      <p:ext uri="{BB962C8B-B14F-4D97-AF65-F5344CB8AC3E}">
        <p14:creationId xmlns:p14="http://schemas.microsoft.com/office/powerpoint/2010/main" val="17064477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44D03F8-AA4E-41D6-4A46-D4DFCA09734E}"/>
              </a:ext>
            </a:extLst>
          </p:cNvPr>
          <p:cNvSpPr>
            <a:spLocks noGrp="1"/>
          </p:cNvSpPr>
          <p:nvPr>
            <p:ph type="title"/>
          </p:nvPr>
        </p:nvSpPr>
        <p:spPr>
          <a:xfrm>
            <a:off x="612648" y="5465106"/>
            <a:ext cx="10741152" cy="1132258"/>
          </a:xfrm>
        </p:spPr>
        <p:txBody>
          <a:bodyPr>
            <a:normAutofit/>
          </a:bodyPr>
          <a:lstStyle/>
          <a:p>
            <a:pPr marL="342900" indent="-342900">
              <a:buFont typeface="Arial"/>
              <a:buChar char="•"/>
            </a:pPr>
            <a:r>
              <a:rPr lang="tr-TR" sz="2000" b="0"/>
              <a:t>Kullanıcının girdiği değerlere göre asistanımız haftalık su tüketimi tahmini yapmaktadır.</a:t>
            </a:r>
          </a:p>
        </p:txBody>
      </p:sp>
      <p:pic>
        <p:nvPicPr>
          <p:cNvPr id="5" name="İçerik Yer Tutucusu 4" descr="metin, ekran görüntüsü, yazı tipi içeren bir resim&#10;&#10;Yapay zeka tarafından oluşturulmuş içerik yanlış olabilir.">
            <a:extLst>
              <a:ext uri="{FF2B5EF4-FFF2-40B4-BE49-F238E27FC236}">
                <a16:creationId xmlns:a16="http://schemas.microsoft.com/office/drawing/2014/main" id="{6B556ADD-EB56-8662-FD3F-64950F10E028}"/>
              </a:ext>
            </a:extLst>
          </p:cNvPr>
          <p:cNvPicPr>
            <a:picLocks noGrp="1" noChangeAspect="1"/>
          </p:cNvPicPr>
          <p:nvPr>
            <p:ph sz="half" idx="1"/>
          </p:nvPr>
        </p:nvPicPr>
        <p:blipFill>
          <a:blip r:embed="rId2"/>
          <a:stretch>
            <a:fillRect/>
          </a:stretch>
        </p:blipFill>
        <p:spPr>
          <a:xfrm>
            <a:off x="431136" y="1110485"/>
            <a:ext cx="5555060" cy="3934028"/>
          </a:xfrm>
          <a:prstGeom prst="rect">
            <a:avLst/>
          </a:prstGeom>
        </p:spPr>
      </p:pic>
      <p:pic>
        <p:nvPicPr>
          <p:cNvPr id="6" name="İçerik Yer Tutucusu 5" descr="metin, ekran görüntüsü, ekran, görüntüleme, yazılım içeren bir resim&#10;&#10;Yapay zeka tarafından oluşturulmuş içerik yanlış olabilir.">
            <a:extLst>
              <a:ext uri="{FF2B5EF4-FFF2-40B4-BE49-F238E27FC236}">
                <a16:creationId xmlns:a16="http://schemas.microsoft.com/office/drawing/2014/main" id="{7E5A9C91-E46A-223F-657F-C9562AEE1FFD}"/>
              </a:ext>
            </a:extLst>
          </p:cNvPr>
          <p:cNvPicPr>
            <a:picLocks noGrp="1" noChangeAspect="1"/>
          </p:cNvPicPr>
          <p:nvPr>
            <p:ph sz="half" idx="2"/>
          </p:nvPr>
        </p:nvPicPr>
        <p:blipFill>
          <a:blip r:embed="rId3"/>
          <a:stretch>
            <a:fillRect/>
          </a:stretch>
        </p:blipFill>
        <p:spPr>
          <a:xfrm>
            <a:off x="6447967" y="1112830"/>
            <a:ext cx="5214611" cy="3939777"/>
          </a:xfrm>
          <a:prstGeom prst="rect">
            <a:avLst/>
          </a:prstGeom>
        </p:spPr>
      </p:pic>
    </p:spTree>
    <p:extLst>
      <p:ext uri="{BB962C8B-B14F-4D97-AF65-F5344CB8AC3E}">
        <p14:creationId xmlns:p14="http://schemas.microsoft.com/office/powerpoint/2010/main" val="10311845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2B2D158-FC1B-A386-4F75-67FD30518BAC}"/>
              </a:ext>
            </a:extLst>
          </p:cNvPr>
          <p:cNvSpPr>
            <a:spLocks noGrp="1"/>
          </p:cNvSpPr>
          <p:nvPr>
            <p:ph type="title"/>
          </p:nvPr>
        </p:nvSpPr>
        <p:spPr>
          <a:xfrm>
            <a:off x="6666894" y="2855517"/>
            <a:ext cx="4154550" cy="1904696"/>
          </a:xfrm>
        </p:spPr>
        <p:txBody>
          <a:bodyPr>
            <a:normAutofit/>
          </a:bodyPr>
          <a:lstStyle/>
          <a:p>
            <a:pPr marL="342900" indent="-342900">
              <a:buFont typeface="Arial"/>
              <a:buChar char="•"/>
            </a:pPr>
            <a:r>
              <a:rPr lang="tr-TR" sz="2000" b="0"/>
              <a:t>Asistanımız adım adım her hafta su tüketimini biraz daha azaltabilmek için öneriler veriyor. Bunu yaparken de samimi bir üslup kullanıyor.</a:t>
            </a:r>
            <a:br>
              <a:rPr lang="tr-TR" sz="2000" b="0"/>
            </a:br>
            <a:endParaRPr lang="tr-TR" sz="2000" b="0"/>
          </a:p>
        </p:txBody>
      </p:sp>
      <p:pic>
        <p:nvPicPr>
          <p:cNvPr id="5" name="İçerik Yer Tutucusu 4" descr="metin, ekran görüntüsü, yazı tipi içeren bir resim&#10;&#10;Yapay zeka tarafından oluşturulmuş içerik yanlış olabilir.">
            <a:extLst>
              <a:ext uri="{FF2B5EF4-FFF2-40B4-BE49-F238E27FC236}">
                <a16:creationId xmlns:a16="http://schemas.microsoft.com/office/drawing/2014/main" id="{9E3960DC-BFBA-BD93-EBBE-2A258A2CABD6}"/>
              </a:ext>
            </a:extLst>
          </p:cNvPr>
          <p:cNvPicPr>
            <a:picLocks noGrp="1" noChangeAspect="1"/>
          </p:cNvPicPr>
          <p:nvPr>
            <p:ph sz="half" idx="1"/>
          </p:nvPr>
        </p:nvPicPr>
        <p:blipFill>
          <a:blip r:embed="rId2"/>
          <a:stretch>
            <a:fillRect/>
          </a:stretch>
        </p:blipFill>
        <p:spPr>
          <a:xfrm>
            <a:off x="623086" y="905076"/>
            <a:ext cx="5181600" cy="3144436"/>
          </a:xfrm>
          <a:prstGeom prst="rect">
            <a:avLst/>
          </a:prstGeom>
        </p:spPr>
      </p:pic>
      <p:pic>
        <p:nvPicPr>
          <p:cNvPr id="6" name="İçerik Yer Tutucusu 5" descr="metin, ekran görüntüsü, yazı tipi içeren bir resim&#10;&#10;Yapay zeka tarafından oluşturulmuş içerik yanlış olabilir.">
            <a:extLst>
              <a:ext uri="{FF2B5EF4-FFF2-40B4-BE49-F238E27FC236}">
                <a16:creationId xmlns:a16="http://schemas.microsoft.com/office/drawing/2014/main" id="{27EEEE92-8E55-3A72-D5A2-A981171FF2D2}"/>
              </a:ext>
            </a:extLst>
          </p:cNvPr>
          <p:cNvPicPr>
            <a:picLocks noGrp="1" noChangeAspect="1"/>
          </p:cNvPicPr>
          <p:nvPr>
            <p:ph sz="half" idx="2"/>
          </p:nvPr>
        </p:nvPicPr>
        <p:blipFill>
          <a:blip r:embed="rId3"/>
          <a:stretch>
            <a:fillRect/>
          </a:stretch>
        </p:blipFill>
        <p:spPr>
          <a:xfrm>
            <a:off x="618995" y="3925720"/>
            <a:ext cx="5181600" cy="1894351"/>
          </a:xfrm>
          <a:prstGeom prst="rect">
            <a:avLst/>
          </a:prstGeom>
        </p:spPr>
      </p:pic>
    </p:spTree>
    <p:extLst>
      <p:ext uri="{BB962C8B-B14F-4D97-AF65-F5344CB8AC3E}">
        <p14:creationId xmlns:p14="http://schemas.microsoft.com/office/powerpoint/2010/main" val="90095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3DDD96-5154-9829-C95C-15D00AC7DF1A}"/>
              </a:ext>
            </a:extLst>
          </p:cNvPr>
          <p:cNvSpPr>
            <a:spLocks noGrp="1"/>
          </p:cNvSpPr>
          <p:nvPr>
            <p:ph type="title"/>
          </p:nvPr>
        </p:nvSpPr>
        <p:spPr>
          <a:xfrm>
            <a:off x="6833908" y="4181187"/>
            <a:ext cx="3622193" cy="1894257"/>
          </a:xfrm>
        </p:spPr>
        <p:txBody>
          <a:bodyPr>
            <a:normAutofit/>
          </a:bodyPr>
          <a:lstStyle/>
          <a:p>
            <a:pPr marL="342900" indent="-342900">
              <a:buFont typeface="Arial"/>
              <a:buChar char="•"/>
            </a:pPr>
            <a:r>
              <a:rPr lang="tr-TR" sz="2000" b="0"/>
              <a:t>Asistanımız, kullanıcının önerileri uygulaması sonucunda ne kadarlık bir tasarruf olacağını zamana göre tablolar olarak veriyor</a:t>
            </a:r>
          </a:p>
        </p:txBody>
      </p:sp>
      <p:pic>
        <p:nvPicPr>
          <p:cNvPr id="5" name="İçerik Yer Tutucusu 4" descr="metin, ekran görüntüsü, yazı tipi içeren bir resim&#10;&#10;Yapay zeka tarafından oluşturulmuş içerik yanlış olabilir.">
            <a:extLst>
              <a:ext uri="{FF2B5EF4-FFF2-40B4-BE49-F238E27FC236}">
                <a16:creationId xmlns:a16="http://schemas.microsoft.com/office/drawing/2014/main" id="{B1E5CB01-4977-3D10-3DA3-E218756549E7}"/>
              </a:ext>
            </a:extLst>
          </p:cNvPr>
          <p:cNvPicPr>
            <a:picLocks noGrp="1" noChangeAspect="1"/>
          </p:cNvPicPr>
          <p:nvPr>
            <p:ph sz="half" idx="1"/>
          </p:nvPr>
        </p:nvPicPr>
        <p:blipFill>
          <a:blip r:embed="rId2"/>
          <a:stretch>
            <a:fillRect/>
          </a:stretch>
        </p:blipFill>
        <p:spPr>
          <a:xfrm>
            <a:off x="560457" y="798488"/>
            <a:ext cx="5181600" cy="2626928"/>
          </a:xfrm>
          <a:prstGeom prst="rect">
            <a:avLst/>
          </a:prstGeom>
        </p:spPr>
      </p:pic>
      <p:pic>
        <p:nvPicPr>
          <p:cNvPr id="6" name="İçerik Yer Tutucusu 5" descr="metin, ekran görüntüsü, yazı tipi içeren bir resim&#10;&#10;Yapay zeka tarafından oluşturulmuş içerik yanlış olabilir.">
            <a:extLst>
              <a:ext uri="{FF2B5EF4-FFF2-40B4-BE49-F238E27FC236}">
                <a16:creationId xmlns:a16="http://schemas.microsoft.com/office/drawing/2014/main" id="{9DC992C3-3788-89B2-12E7-F26F31DCE7BF}"/>
              </a:ext>
            </a:extLst>
          </p:cNvPr>
          <p:cNvPicPr>
            <a:picLocks noGrp="1" noChangeAspect="1"/>
          </p:cNvPicPr>
          <p:nvPr>
            <p:ph sz="half" idx="2"/>
          </p:nvPr>
        </p:nvPicPr>
        <p:blipFill>
          <a:blip r:embed="rId3"/>
          <a:stretch>
            <a:fillRect/>
          </a:stretch>
        </p:blipFill>
        <p:spPr>
          <a:xfrm>
            <a:off x="556364" y="3308080"/>
            <a:ext cx="5181600" cy="2764291"/>
          </a:xfrm>
          <a:prstGeom prst="rect">
            <a:avLst/>
          </a:prstGeom>
        </p:spPr>
      </p:pic>
      <p:pic>
        <p:nvPicPr>
          <p:cNvPr id="7" name="Resim 6" descr="metin, ekran görüntüsü, yazı tipi içeren bir resim&#10;&#10;Yapay zeka tarafından oluşturulmuş içerik yanlış olabilir.">
            <a:extLst>
              <a:ext uri="{FF2B5EF4-FFF2-40B4-BE49-F238E27FC236}">
                <a16:creationId xmlns:a16="http://schemas.microsoft.com/office/drawing/2014/main" id="{2D4412E0-DC8D-AC95-EAE0-9DC9F8E331D4}"/>
              </a:ext>
            </a:extLst>
          </p:cNvPr>
          <p:cNvPicPr>
            <a:picLocks noChangeAspect="1"/>
          </p:cNvPicPr>
          <p:nvPr/>
        </p:nvPicPr>
        <p:blipFill>
          <a:blip r:embed="rId4"/>
          <a:stretch>
            <a:fillRect/>
          </a:stretch>
        </p:blipFill>
        <p:spPr>
          <a:xfrm>
            <a:off x="6192816" y="798406"/>
            <a:ext cx="4889848" cy="3090016"/>
          </a:xfrm>
          <a:prstGeom prst="rect">
            <a:avLst/>
          </a:prstGeom>
        </p:spPr>
      </p:pic>
    </p:spTree>
    <p:extLst>
      <p:ext uri="{BB962C8B-B14F-4D97-AF65-F5344CB8AC3E}">
        <p14:creationId xmlns:p14="http://schemas.microsoft.com/office/powerpoint/2010/main" val="2096437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413F39D-2F01-64E6-DF54-A1BFCDF36338}"/>
              </a:ext>
            </a:extLst>
          </p:cNvPr>
          <p:cNvSpPr>
            <a:spLocks noGrp="1"/>
          </p:cNvSpPr>
          <p:nvPr>
            <p:ph type="title"/>
          </p:nvPr>
        </p:nvSpPr>
        <p:spPr/>
        <p:txBody>
          <a:bodyPr>
            <a:normAutofit/>
          </a:bodyPr>
          <a:lstStyle/>
          <a:p>
            <a:r>
              <a:rPr lang="tr-TR" sz="2000"/>
              <a:t>Kişisel Su Asistanımızın Başka Bir Kullanım Örneği</a:t>
            </a:r>
          </a:p>
        </p:txBody>
      </p:sp>
      <p:pic>
        <p:nvPicPr>
          <p:cNvPr id="5" name="İçerik Yer Tutucusu 4" descr="metin, ekran görüntüsü, yazı tipi içeren bir resim&#10;&#10;Yapay zeka tarafından oluşturulmuş içerik yanlış olabilir.">
            <a:extLst>
              <a:ext uri="{FF2B5EF4-FFF2-40B4-BE49-F238E27FC236}">
                <a16:creationId xmlns:a16="http://schemas.microsoft.com/office/drawing/2014/main" id="{B07DE19E-F6F5-154F-9ED3-B8E52012BDAC}"/>
              </a:ext>
            </a:extLst>
          </p:cNvPr>
          <p:cNvPicPr>
            <a:picLocks noGrp="1" noChangeAspect="1"/>
          </p:cNvPicPr>
          <p:nvPr>
            <p:ph sz="half" idx="1"/>
          </p:nvPr>
        </p:nvPicPr>
        <p:blipFill>
          <a:blip r:embed="rId2"/>
          <a:stretch>
            <a:fillRect/>
          </a:stretch>
        </p:blipFill>
        <p:spPr>
          <a:xfrm>
            <a:off x="612648" y="1212282"/>
            <a:ext cx="5181600" cy="2947558"/>
          </a:xfrm>
          <a:prstGeom prst="rect">
            <a:avLst/>
          </a:prstGeom>
        </p:spPr>
      </p:pic>
      <p:pic>
        <p:nvPicPr>
          <p:cNvPr id="6" name="İçerik Yer Tutucusu 5" descr="metin, ekran görüntüsü, yazı tipi içeren bir resim&#10;&#10;Yapay zeka tarafından oluşturulmuş içerik yanlış olabilir.">
            <a:extLst>
              <a:ext uri="{FF2B5EF4-FFF2-40B4-BE49-F238E27FC236}">
                <a16:creationId xmlns:a16="http://schemas.microsoft.com/office/drawing/2014/main" id="{3B02B0DE-4697-697E-E5E2-B8C64441D131}"/>
              </a:ext>
            </a:extLst>
          </p:cNvPr>
          <p:cNvPicPr>
            <a:picLocks noGrp="1" noChangeAspect="1"/>
          </p:cNvPicPr>
          <p:nvPr>
            <p:ph sz="half" idx="2"/>
          </p:nvPr>
        </p:nvPicPr>
        <p:blipFill>
          <a:blip r:embed="rId3"/>
          <a:stretch>
            <a:fillRect/>
          </a:stretch>
        </p:blipFill>
        <p:spPr>
          <a:xfrm>
            <a:off x="608556" y="4064302"/>
            <a:ext cx="5192038" cy="2400066"/>
          </a:xfrm>
          <a:prstGeom prst="rect">
            <a:avLst/>
          </a:prstGeom>
        </p:spPr>
      </p:pic>
      <p:pic>
        <p:nvPicPr>
          <p:cNvPr id="7" name="Resim 6" descr="metin, ekran görüntüsü, yazı tipi içeren bir resim&#10;&#10;Yapay zeka tarafından oluşturulmuş içerik yanlış olabilir.">
            <a:extLst>
              <a:ext uri="{FF2B5EF4-FFF2-40B4-BE49-F238E27FC236}">
                <a16:creationId xmlns:a16="http://schemas.microsoft.com/office/drawing/2014/main" id="{C83C2E0A-4DA0-08F4-8508-7FC4BBD01D91}"/>
              </a:ext>
            </a:extLst>
          </p:cNvPr>
          <p:cNvPicPr>
            <a:picLocks noChangeAspect="1"/>
          </p:cNvPicPr>
          <p:nvPr/>
        </p:nvPicPr>
        <p:blipFill>
          <a:blip r:embed="rId4"/>
          <a:stretch>
            <a:fillRect/>
          </a:stretch>
        </p:blipFill>
        <p:spPr>
          <a:xfrm>
            <a:off x="6451753" y="1207457"/>
            <a:ext cx="4789509" cy="2846018"/>
          </a:xfrm>
          <a:prstGeom prst="rect">
            <a:avLst/>
          </a:prstGeom>
        </p:spPr>
      </p:pic>
      <p:pic>
        <p:nvPicPr>
          <p:cNvPr id="8" name="Resim 7" descr="metin, ekran görüntüsü, yazı tipi içeren bir resim&#10;&#10;Yapay zeka tarafından oluşturulmuş içerik yanlış olabilir.">
            <a:extLst>
              <a:ext uri="{FF2B5EF4-FFF2-40B4-BE49-F238E27FC236}">
                <a16:creationId xmlns:a16="http://schemas.microsoft.com/office/drawing/2014/main" id="{F93D8860-7DD2-2BB0-9D7F-BAB5C9B2B380}"/>
              </a:ext>
            </a:extLst>
          </p:cNvPr>
          <p:cNvPicPr>
            <a:picLocks noChangeAspect="1"/>
          </p:cNvPicPr>
          <p:nvPr/>
        </p:nvPicPr>
        <p:blipFill>
          <a:blip r:embed="rId4"/>
          <a:stretch>
            <a:fillRect/>
          </a:stretch>
        </p:blipFill>
        <p:spPr>
          <a:xfrm>
            <a:off x="6451753" y="3921429"/>
            <a:ext cx="4789509" cy="2689443"/>
          </a:xfrm>
          <a:prstGeom prst="rect">
            <a:avLst/>
          </a:prstGeom>
        </p:spPr>
      </p:pic>
    </p:spTree>
    <p:extLst>
      <p:ext uri="{BB962C8B-B14F-4D97-AF65-F5344CB8AC3E}">
        <p14:creationId xmlns:p14="http://schemas.microsoft.com/office/powerpoint/2010/main" val="30281779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metin, ekran görüntüsü, yazı tipi içeren bir resim&#10;&#10;Yapay zeka tarafından oluşturulmuş içerik yanlış olabilir.">
            <a:extLst>
              <a:ext uri="{FF2B5EF4-FFF2-40B4-BE49-F238E27FC236}">
                <a16:creationId xmlns:a16="http://schemas.microsoft.com/office/drawing/2014/main" id="{AB57A136-3165-CCD5-4799-D07C82810E66}"/>
              </a:ext>
            </a:extLst>
          </p:cNvPr>
          <p:cNvPicPr>
            <a:picLocks noChangeAspect="1"/>
          </p:cNvPicPr>
          <p:nvPr/>
        </p:nvPicPr>
        <p:blipFill>
          <a:blip r:embed="rId2"/>
          <a:stretch>
            <a:fillRect/>
          </a:stretch>
        </p:blipFill>
        <p:spPr>
          <a:xfrm>
            <a:off x="247194" y="298929"/>
            <a:ext cx="5852134" cy="3921952"/>
          </a:xfrm>
          <a:prstGeom prst="rect">
            <a:avLst/>
          </a:prstGeom>
        </p:spPr>
      </p:pic>
      <p:pic>
        <p:nvPicPr>
          <p:cNvPr id="6" name="Resim 5" descr="metin, ekran görüntüsü, yazı tipi içeren bir resim&#10;&#10;Yapay zeka tarafından oluşturulmuş içerik yanlış olabilir.">
            <a:extLst>
              <a:ext uri="{FF2B5EF4-FFF2-40B4-BE49-F238E27FC236}">
                <a16:creationId xmlns:a16="http://schemas.microsoft.com/office/drawing/2014/main" id="{DB08B9CE-EDE1-A067-61F0-76F5B06C2F06}"/>
              </a:ext>
            </a:extLst>
          </p:cNvPr>
          <p:cNvPicPr>
            <a:picLocks noChangeAspect="1"/>
          </p:cNvPicPr>
          <p:nvPr/>
        </p:nvPicPr>
        <p:blipFill>
          <a:blip r:embed="rId3"/>
          <a:stretch>
            <a:fillRect/>
          </a:stretch>
        </p:blipFill>
        <p:spPr>
          <a:xfrm>
            <a:off x="249803" y="4215923"/>
            <a:ext cx="5848219" cy="1989943"/>
          </a:xfrm>
          <a:prstGeom prst="rect">
            <a:avLst/>
          </a:prstGeom>
        </p:spPr>
      </p:pic>
      <p:pic>
        <p:nvPicPr>
          <p:cNvPr id="7" name="Resim 6" descr="metin, ekran görüntüsü, yazı tipi içeren bir resim&#10;&#10;Yapay zeka tarafından oluşturulmuş içerik yanlış olabilir.">
            <a:extLst>
              <a:ext uri="{FF2B5EF4-FFF2-40B4-BE49-F238E27FC236}">
                <a16:creationId xmlns:a16="http://schemas.microsoft.com/office/drawing/2014/main" id="{148FBF5D-83C4-7EB3-5F91-8D478E38D57F}"/>
              </a:ext>
            </a:extLst>
          </p:cNvPr>
          <p:cNvPicPr>
            <a:picLocks noChangeAspect="1"/>
          </p:cNvPicPr>
          <p:nvPr/>
        </p:nvPicPr>
        <p:blipFill>
          <a:blip r:embed="rId4"/>
          <a:stretch>
            <a:fillRect/>
          </a:stretch>
        </p:blipFill>
        <p:spPr>
          <a:xfrm>
            <a:off x="6275344" y="304147"/>
            <a:ext cx="5232487" cy="3581792"/>
          </a:xfrm>
          <a:prstGeom prst="rect">
            <a:avLst/>
          </a:prstGeom>
        </p:spPr>
      </p:pic>
    </p:spTree>
    <p:extLst>
      <p:ext uri="{BB962C8B-B14F-4D97-AF65-F5344CB8AC3E}">
        <p14:creationId xmlns:p14="http://schemas.microsoft.com/office/powerpoint/2010/main" val="868174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descr="metin, ekran görüntüsü, yazı tipi içeren bir resim&#10;&#10;Yapay zeka tarafından oluşturulmuş içerik yanlış olabilir.">
            <a:extLst>
              <a:ext uri="{FF2B5EF4-FFF2-40B4-BE49-F238E27FC236}">
                <a16:creationId xmlns:a16="http://schemas.microsoft.com/office/drawing/2014/main" id="{EEBEEB27-DD32-13B9-E5DC-761CD212D877}"/>
              </a:ext>
            </a:extLst>
          </p:cNvPr>
          <p:cNvPicPr>
            <a:picLocks noChangeAspect="1"/>
          </p:cNvPicPr>
          <p:nvPr/>
        </p:nvPicPr>
        <p:blipFill>
          <a:blip r:embed="rId2"/>
          <a:stretch>
            <a:fillRect/>
          </a:stretch>
        </p:blipFill>
        <p:spPr>
          <a:xfrm>
            <a:off x="129762" y="167536"/>
            <a:ext cx="5252390" cy="3955094"/>
          </a:xfrm>
          <a:prstGeom prst="rect">
            <a:avLst/>
          </a:prstGeom>
        </p:spPr>
      </p:pic>
      <p:pic>
        <p:nvPicPr>
          <p:cNvPr id="3" name="Resim 2" descr="metin, ekran görüntüsü, yazı tipi içeren bir resim&#10;&#10;Yapay zeka tarafından oluşturulmuş içerik yanlış olabilir.">
            <a:extLst>
              <a:ext uri="{FF2B5EF4-FFF2-40B4-BE49-F238E27FC236}">
                <a16:creationId xmlns:a16="http://schemas.microsoft.com/office/drawing/2014/main" id="{BA09D8A5-3116-5864-9183-BAE628FD81E9}"/>
              </a:ext>
            </a:extLst>
          </p:cNvPr>
          <p:cNvPicPr>
            <a:picLocks noChangeAspect="1"/>
          </p:cNvPicPr>
          <p:nvPr/>
        </p:nvPicPr>
        <p:blipFill>
          <a:blip r:embed="rId3"/>
          <a:srcRect l="197" t="12491" r="197"/>
          <a:stretch>
            <a:fillRect/>
          </a:stretch>
        </p:blipFill>
        <p:spPr>
          <a:xfrm>
            <a:off x="132722" y="3991849"/>
            <a:ext cx="5242077" cy="2689117"/>
          </a:xfrm>
          <a:prstGeom prst="rect">
            <a:avLst/>
          </a:prstGeom>
        </p:spPr>
      </p:pic>
      <p:pic>
        <p:nvPicPr>
          <p:cNvPr id="4" name="Resim 3" descr="metin, ekran görüntüsü, yazı tipi içeren bir resim&#10;&#10;Yapay zeka tarafından oluşturulmuş içerik yanlış olabilir.">
            <a:extLst>
              <a:ext uri="{FF2B5EF4-FFF2-40B4-BE49-F238E27FC236}">
                <a16:creationId xmlns:a16="http://schemas.microsoft.com/office/drawing/2014/main" id="{6F457E90-9648-1698-9206-D7E71C8A120E}"/>
              </a:ext>
            </a:extLst>
          </p:cNvPr>
          <p:cNvPicPr>
            <a:picLocks noChangeAspect="1"/>
          </p:cNvPicPr>
          <p:nvPr/>
        </p:nvPicPr>
        <p:blipFill>
          <a:blip r:embed="rId4"/>
          <a:stretch>
            <a:fillRect/>
          </a:stretch>
        </p:blipFill>
        <p:spPr>
          <a:xfrm>
            <a:off x="6095589" y="163544"/>
            <a:ext cx="5363718" cy="2597422"/>
          </a:xfrm>
          <a:prstGeom prst="rect">
            <a:avLst/>
          </a:prstGeom>
        </p:spPr>
      </p:pic>
      <p:pic>
        <p:nvPicPr>
          <p:cNvPr id="5" name="Resim 4" descr="metin, ekran görüntüsü, yazı tipi içeren bir resim&#10;&#10;Yapay zeka tarafından oluşturulmuş içerik yanlış olabilir.">
            <a:extLst>
              <a:ext uri="{FF2B5EF4-FFF2-40B4-BE49-F238E27FC236}">
                <a16:creationId xmlns:a16="http://schemas.microsoft.com/office/drawing/2014/main" id="{96FD5B60-2994-5147-52AD-67E45F17270B}"/>
              </a:ext>
            </a:extLst>
          </p:cNvPr>
          <p:cNvPicPr>
            <a:picLocks noChangeAspect="1"/>
          </p:cNvPicPr>
          <p:nvPr/>
        </p:nvPicPr>
        <p:blipFill>
          <a:blip r:embed="rId5"/>
          <a:stretch>
            <a:fillRect/>
          </a:stretch>
        </p:blipFill>
        <p:spPr>
          <a:xfrm>
            <a:off x="6090831" y="2626534"/>
            <a:ext cx="5376513" cy="4042838"/>
          </a:xfrm>
          <a:prstGeom prst="rect">
            <a:avLst/>
          </a:prstGeom>
        </p:spPr>
      </p:pic>
    </p:spTree>
    <p:extLst>
      <p:ext uri="{BB962C8B-B14F-4D97-AF65-F5344CB8AC3E}">
        <p14:creationId xmlns:p14="http://schemas.microsoft.com/office/powerpoint/2010/main" val="38353412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descr="metin, ekran görüntüsü, yazı tipi içeren bir resim&#10;&#10;Yapay zeka tarafından oluşturulmuş içerik yanlış olabilir.">
            <a:extLst>
              <a:ext uri="{FF2B5EF4-FFF2-40B4-BE49-F238E27FC236}">
                <a16:creationId xmlns:a16="http://schemas.microsoft.com/office/drawing/2014/main" id="{BCA385FB-5064-6DE7-291E-BF770F588636}"/>
              </a:ext>
            </a:extLst>
          </p:cNvPr>
          <p:cNvPicPr>
            <a:picLocks noChangeAspect="1"/>
          </p:cNvPicPr>
          <p:nvPr/>
        </p:nvPicPr>
        <p:blipFill>
          <a:blip r:embed="rId2"/>
          <a:stretch>
            <a:fillRect/>
          </a:stretch>
        </p:blipFill>
        <p:spPr>
          <a:xfrm>
            <a:off x="108416" y="219075"/>
            <a:ext cx="5991225" cy="4514850"/>
          </a:xfrm>
          <a:prstGeom prst="rect">
            <a:avLst/>
          </a:prstGeom>
        </p:spPr>
      </p:pic>
      <p:pic>
        <p:nvPicPr>
          <p:cNvPr id="3" name="Resim 2" descr="metin, ekran görüntüsü, yazı tipi içeren bir resim&#10;&#10;Yapay zeka tarafından oluşturulmuş içerik yanlış olabilir.">
            <a:extLst>
              <a:ext uri="{FF2B5EF4-FFF2-40B4-BE49-F238E27FC236}">
                <a16:creationId xmlns:a16="http://schemas.microsoft.com/office/drawing/2014/main" id="{4D0D5D9C-83C4-9FD4-1D69-77326D550CF8}"/>
              </a:ext>
            </a:extLst>
          </p:cNvPr>
          <p:cNvPicPr>
            <a:picLocks noChangeAspect="1"/>
          </p:cNvPicPr>
          <p:nvPr/>
        </p:nvPicPr>
        <p:blipFill>
          <a:blip r:embed="rId3"/>
          <a:stretch>
            <a:fillRect/>
          </a:stretch>
        </p:blipFill>
        <p:spPr>
          <a:xfrm>
            <a:off x="111219" y="4724960"/>
            <a:ext cx="5985623" cy="1363756"/>
          </a:xfrm>
          <a:prstGeom prst="rect">
            <a:avLst/>
          </a:prstGeom>
        </p:spPr>
      </p:pic>
      <p:sp>
        <p:nvSpPr>
          <p:cNvPr id="4" name="Metin kutusu 3">
            <a:extLst>
              <a:ext uri="{FF2B5EF4-FFF2-40B4-BE49-F238E27FC236}">
                <a16:creationId xmlns:a16="http://schemas.microsoft.com/office/drawing/2014/main" id="{47445333-E0B0-A614-DEBD-6CD9A3AD0B34}"/>
              </a:ext>
            </a:extLst>
          </p:cNvPr>
          <p:cNvSpPr txBox="1"/>
          <p:nvPr/>
        </p:nvSpPr>
        <p:spPr>
          <a:xfrm>
            <a:off x="7630498" y="1610105"/>
            <a:ext cx="36962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tr-TR"/>
          </a:p>
        </p:txBody>
      </p:sp>
    </p:spTree>
    <p:extLst>
      <p:ext uri="{BB962C8B-B14F-4D97-AF65-F5344CB8AC3E}">
        <p14:creationId xmlns:p14="http://schemas.microsoft.com/office/powerpoint/2010/main" val="11913498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5550183-1833-6A32-5524-CB1022104416}"/>
              </a:ext>
            </a:extLst>
          </p:cNvPr>
          <p:cNvSpPr>
            <a:spLocks noGrp="1"/>
          </p:cNvSpPr>
          <p:nvPr>
            <p:ph type="title"/>
          </p:nvPr>
        </p:nvSpPr>
        <p:spPr/>
        <p:txBody>
          <a:bodyPr/>
          <a:lstStyle/>
          <a:p>
            <a:r>
              <a:rPr lang="tr-TR"/>
              <a:t>Proje adımları nelerdi?</a:t>
            </a:r>
          </a:p>
        </p:txBody>
      </p:sp>
      <p:sp>
        <p:nvSpPr>
          <p:cNvPr id="3" name="İçerik Yer Tutucusu 2">
            <a:extLst>
              <a:ext uri="{FF2B5EF4-FFF2-40B4-BE49-F238E27FC236}">
                <a16:creationId xmlns:a16="http://schemas.microsoft.com/office/drawing/2014/main" id="{39C9E51D-3B56-B08A-F108-810818CD1AF8}"/>
              </a:ext>
            </a:extLst>
          </p:cNvPr>
          <p:cNvSpPr>
            <a:spLocks noGrp="1"/>
          </p:cNvSpPr>
          <p:nvPr>
            <p:ph idx="1"/>
          </p:nvPr>
        </p:nvSpPr>
        <p:spPr/>
        <p:txBody>
          <a:bodyPr vert="horz" lIns="91440" tIns="45720" rIns="91440" bIns="45720" rtlCol="0" anchor="t">
            <a:normAutofit/>
          </a:bodyPr>
          <a:lstStyle/>
          <a:p>
            <a:pPr marL="342900" indent="-342900"/>
            <a:r>
              <a:rPr lang="tr-TR">
                <a:ea typeface="+mn-lt"/>
                <a:cs typeface="+mn-lt"/>
              </a:rPr>
              <a:t>Bu projede öncelikle çözmek istediğimiz problemi belirledik ve yapay zekâ araçlarını bu problem üzerinde nasıl kullanabileceğimizi grupça istişare ettik. Ardından, projemizin amacını ve ulaşmak istediğimiz hedefleri netleştirerek çalışmamızın kapsamını oluşturduk. Araştırmalar sonucu projemiz için en uygun yapay zekâ yaklaşımını ve kullanacağımız araçları belirledik.</a:t>
            </a:r>
            <a:endParaRPr lang="tr-TR"/>
          </a:p>
          <a:p>
            <a:endParaRPr lang="tr-TR"/>
          </a:p>
        </p:txBody>
      </p:sp>
    </p:spTree>
    <p:extLst>
      <p:ext uri="{BB962C8B-B14F-4D97-AF65-F5344CB8AC3E}">
        <p14:creationId xmlns:p14="http://schemas.microsoft.com/office/powerpoint/2010/main" val="17066547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527C887-C8F5-E555-B9E2-7201146588B5}"/>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3D0074E1-33A5-85A4-D654-CD904CEBE7F4}"/>
              </a:ext>
            </a:extLst>
          </p:cNvPr>
          <p:cNvSpPr>
            <a:spLocks noGrp="1"/>
          </p:cNvSpPr>
          <p:nvPr>
            <p:ph idx="1"/>
          </p:nvPr>
        </p:nvSpPr>
        <p:spPr/>
        <p:txBody>
          <a:bodyPr vert="horz" lIns="91440" tIns="45720" rIns="91440" bIns="45720" rtlCol="0" anchor="t">
            <a:normAutofit/>
          </a:bodyPr>
          <a:lstStyle/>
          <a:p>
            <a:pPr marL="342900" indent="-342900"/>
            <a:r>
              <a:rPr lang="tr-TR">
                <a:ea typeface="+mn-lt"/>
                <a:cs typeface="+mn-lt"/>
              </a:rPr>
              <a:t>Bu projede amacımız, bireylerin günlük su tüketimini analiz ederek tasarruf konusunda farkındalık oluşturan bir yapay zekâ asistanı geliştirmekti. Öncelikle su israfı problemini belirledik ve özellikle çevresel olmak üzere bir sürü açıdan bu konuda istişare ederek bu sorunun önemini ortaya koyduk. Daha sonra çözüm tasarımını gerçekleştirdik; su tasarrufu asistanımızın kapsamını ve amacını belirledik ve bu doğrultuda yapay zekâ araçları yardımıyla bir çözüm tasarladık ve asistanın günlük su kullanım verilerini analiz ederek öneriler sunmasını sağladık. En son modeli test ettik ve elde ettiğimiz sonuçları değerlendirerek asistanımızın amacımıza uygun olduğuna karar verdik.</a:t>
            </a:r>
            <a:endParaRPr lang="tr-TR"/>
          </a:p>
          <a:p>
            <a:endParaRPr lang="tr-TR"/>
          </a:p>
        </p:txBody>
      </p:sp>
    </p:spTree>
    <p:extLst>
      <p:ext uri="{BB962C8B-B14F-4D97-AF65-F5344CB8AC3E}">
        <p14:creationId xmlns:p14="http://schemas.microsoft.com/office/powerpoint/2010/main" val="29084848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1C8EF0F-46C2-D3D7-666B-C0DFFB428120}"/>
              </a:ext>
            </a:extLst>
          </p:cNvPr>
          <p:cNvSpPr>
            <a:spLocks noGrp="1"/>
          </p:cNvSpPr>
          <p:nvPr>
            <p:ph type="title"/>
          </p:nvPr>
        </p:nvSpPr>
        <p:spPr/>
        <p:txBody>
          <a:bodyPr/>
          <a:lstStyle/>
          <a:p>
            <a:r>
              <a:rPr lang="tr-TR"/>
              <a:t>Hangi kaynakları, araçları ve teknikleri kullandık?</a:t>
            </a:r>
          </a:p>
        </p:txBody>
      </p:sp>
      <p:sp>
        <p:nvSpPr>
          <p:cNvPr id="3" name="İçerik Yer Tutucusu 2">
            <a:extLst>
              <a:ext uri="{FF2B5EF4-FFF2-40B4-BE49-F238E27FC236}">
                <a16:creationId xmlns:a16="http://schemas.microsoft.com/office/drawing/2014/main" id="{168338FA-7A83-FFCC-0CAD-82208E3ABF6A}"/>
              </a:ext>
            </a:extLst>
          </p:cNvPr>
          <p:cNvSpPr>
            <a:spLocks noGrp="1"/>
          </p:cNvSpPr>
          <p:nvPr>
            <p:ph idx="1"/>
          </p:nvPr>
        </p:nvSpPr>
        <p:spPr/>
        <p:txBody>
          <a:bodyPr vert="horz" lIns="91440" tIns="45720" rIns="91440" bIns="45720" rtlCol="0" anchor="t">
            <a:normAutofit/>
          </a:bodyPr>
          <a:lstStyle/>
          <a:p>
            <a:pPr marL="342900" indent="-342900"/>
            <a:r>
              <a:rPr lang="tr-TR">
                <a:ea typeface="+mn-lt"/>
                <a:cs typeface="+mn-lt"/>
              </a:rPr>
              <a:t>Projemizde farklı kaynaklar, araçlar ve teknikler, araştırma sürecinden uygulama aşamasına kadar çeşitli alanlarda kullanıldı. Problem belirleme, su tüketimi ve tasarrufu ile ilgili akademik makaleler, resmi kurumların yayınları ve güvenilir internet kaynaklarından yararlandık. Bu kaynaklar, projenin temelini oluşturan doğru bilgiye ulaşmamıza ve uygulanabilir bir çözüm yolu geliştirmemize yardımcı oldu. Ayrıca projenin amaç ve yaklaşım belirleme ve asistan geliştirme kısımlarında, farklı yapay zekâ araçlarından yardım aldık. Tüm bu kaynaklar, araçlar ve teknikler, projenin hem araştırma hem de çözüm geliştirme aşamalarında güvenilir ve etkili bir temel oluşturmamızı sağladı.</a:t>
            </a:r>
            <a:endParaRPr lang="tr-TR"/>
          </a:p>
          <a:p>
            <a:endParaRPr lang="tr-TR"/>
          </a:p>
        </p:txBody>
      </p:sp>
    </p:spTree>
    <p:extLst>
      <p:ext uri="{BB962C8B-B14F-4D97-AF65-F5344CB8AC3E}">
        <p14:creationId xmlns:p14="http://schemas.microsoft.com/office/powerpoint/2010/main" val="15802902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24ADA16-15E0-8001-EB53-76AD505B16DB}"/>
              </a:ext>
            </a:extLst>
          </p:cNvPr>
          <p:cNvSpPr>
            <a:spLocks noGrp="1"/>
          </p:cNvSpPr>
          <p:nvPr>
            <p:ph type="title"/>
          </p:nvPr>
        </p:nvSpPr>
        <p:spPr/>
        <p:txBody>
          <a:bodyPr>
            <a:normAutofit/>
          </a:bodyPr>
          <a:lstStyle/>
          <a:p>
            <a:r>
              <a:rPr lang="tr-TR">
                <a:latin typeface="Neue Haas Grotesk Text Pro"/>
              </a:rPr>
              <a:t>Proje sırasında karşılaştığımız zorluklar nelerdi ve nasıl çözdük?</a:t>
            </a:r>
          </a:p>
        </p:txBody>
      </p:sp>
      <p:sp>
        <p:nvSpPr>
          <p:cNvPr id="3" name="İçerik Yer Tutucusu 2">
            <a:extLst>
              <a:ext uri="{FF2B5EF4-FFF2-40B4-BE49-F238E27FC236}">
                <a16:creationId xmlns:a16="http://schemas.microsoft.com/office/drawing/2014/main" id="{C789D60F-915D-5F82-E64E-5DD7C3056133}"/>
              </a:ext>
            </a:extLst>
          </p:cNvPr>
          <p:cNvSpPr>
            <a:spLocks noGrp="1"/>
          </p:cNvSpPr>
          <p:nvPr>
            <p:ph idx="1"/>
          </p:nvPr>
        </p:nvSpPr>
        <p:spPr/>
        <p:txBody>
          <a:bodyPr vert="horz" lIns="91440" tIns="45720" rIns="91440" bIns="45720" rtlCol="0" anchor="t">
            <a:normAutofit/>
          </a:bodyPr>
          <a:lstStyle/>
          <a:p>
            <a:pPr marL="342900" indent="-342900"/>
            <a:r>
              <a:rPr lang="tr-TR">
                <a:ea typeface="+mn-lt"/>
                <a:cs typeface="+mn-lt"/>
              </a:rPr>
              <a:t>Proje sürecinde çeşitli zorluklarla karşılaştık. Öncelikle, su tüketimiyle ilgili doğru ve güvenilir bilgilere ulaşmakta güçlük çektik. İnternette yer alan birçok verinin güncel veya bilimsel kaynaklara dayanmadığını fark ettik. Bu sorunu çözmek için resmi kurumların yayınladığı verileri ve güvenilir akademik kaynakları tercih ettik. Ayrıca, gerçekten işe yarayan ve kullanıcıya somut fayda sağlayacak bir çözüm yolu geliştirmek de zaman aldı. Farklı yöntemleri denedikten sonra, öneri sistemimizi sadeleştirip kullanıcı alışkanlıklarına göre özelleştirilmiş öneriler sunacak şekilde düzenledik. Tüm bu süreçler, yapay zekâ projelerinde doğru bilgiye ulaşmanın, etkili çözüm yolları geliştirmenin ve kaynak güvenilirliğini sağlamanın ne kadar kritik olduğunu bize gösterdi.</a:t>
            </a:r>
            <a:endParaRPr lang="tr-TR"/>
          </a:p>
          <a:p>
            <a:endParaRPr lang="tr-TR"/>
          </a:p>
        </p:txBody>
      </p:sp>
    </p:spTree>
    <p:extLst>
      <p:ext uri="{BB962C8B-B14F-4D97-AF65-F5344CB8AC3E}">
        <p14:creationId xmlns:p14="http://schemas.microsoft.com/office/powerpoint/2010/main" val="20369770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3F71454-840C-BC56-01F3-A93DDFE513B1}"/>
              </a:ext>
            </a:extLst>
          </p:cNvPr>
          <p:cNvSpPr>
            <a:spLocks noGrp="1"/>
          </p:cNvSpPr>
          <p:nvPr>
            <p:ph type="title"/>
          </p:nvPr>
        </p:nvSpPr>
        <p:spPr/>
        <p:txBody>
          <a:bodyPr/>
          <a:lstStyle/>
          <a:p>
            <a:r>
              <a:rPr lang="tr-TR"/>
              <a:t>Etik Ve Toplumsal Boyutlar</a:t>
            </a:r>
          </a:p>
        </p:txBody>
      </p:sp>
      <p:sp>
        <p:nvSpPr>
          <p:cNvPr id="3" name="İçerik Yer Tutucusu 2">
            <a:extLst>
              <a:ext uri="{FF2B5EF4-FFF2-40B4-BE49-F238E27FC236}">
                <a16:creationId xmlns:a16="http://schemas.microsoft.com/office/drawing/2014/main" id="{F966EA8F-D248-C596-722B-19DE2CB1883E}"/>
              </a:ext>
            </a:extLst>
          </p:cNvPr>
          <p:cNvSpPr>
            <a:spLocks noGrp="1"/>
          </p:cNvSpPr>
          <p:nvPr>
            <p:ph idx="1"/>
          </p:nvPr>
        </p:nvSpPr>
        <p:spPr/>
        <p:txBody>
          <a:bodyPr vert="horz" lIns="91440" tIns="45720" rIns="91440" bIns="45720" rtlCol="0" anchor="t">
            <a:normAutofit/>
          </a:bodyPr>
          <a:lstStyle/>
          <a:p>
            <a:r>
              <a:rPr lang="tr-TR">
                <a:latin typeface="Neue Haas Grotesk Text Pro"/>
                <a:ea typeface="Calibri"/>
                <a:cs typeface="Calibri"/>
              </a:rPr>
              <a:t>Yapay zekâ teknolojileri, günümüzde birçok alanda fark yaratma potansiyeline sahiptir. Biz de bu projede, su tüketimini azaltmak ve su israfını önlemek amacıyla yapay zekâdan faydalanırken yapay zekayı etik ve toplumsal faydayı gözetecek bir şekilde kullanmaya özen gösterdik. Projemizin temelinde yapay zekayı öneriler almak ve su tüketim analizleri yapmak için kullandık. Projemiz, su tüketimini optimize ederek yerel ve küresel su kaynaklarının korunmasına katkıda bulunmak adına somut adımlar atmayı desteklemektedir. Bu, özellikle su sıkıntısı çeken bölgeler için hayati bir toplumsal faydadır.</a:t>
            </a:r>
            <a:endParaRPr lang="tr-TR">
              <a:latin typeface="Neue Haas Grotesk Text Pro"/>
              <a:ea typeface="+mn-lt"/>
              <a:cs typeface="+mn-lt"/>
            </a:endParaRPr>
          </a:p>
        </p:txBody>
      </p:sp>
    </p:spTree>
    <p:extLst>
      <p:ext uri="{BB962C8B-B14F-4D97-AF65-F5344CB8AC3E}">
        <p14:creationId xmlns:p14="http://schemas.microsoft.com/office/powerpoint/2010/main" val="11710309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7370217-8528-FD37-C240-3D457DBA40D8}"/>
              </a:ext>
            </a:extLst>
          </p:cNvPr>
          <p:cNvSpPr>
            <a:spLocks noGrp="1"/>
          </p:cNvSpPr>
          <p:nvPr>
            <p:ph type="title"/>
          </p:nvPr>
        </p:nvSpPr>
        <p:spPr/>
        <p:txBody>
          <a:bodyPr>
            <a:noAutofit/>
          </a:bodyPr>
          <a:lstStyle/>
          <a:p>
            <a:r>
              <a:rPr lang="tr-TR">
                <a:latin typeface="Neue Haas Grotesk Text Pro"/>
                <a:ea typeface="Calibri"/>
                <a:cs typeface="Calibri"/>
              </a:rPr>
              <a:t>Yapay zeka aracını etik olarak sorumlu bir şekilde kullandık mı? Bunun için neler yaptık ve ne gibi önlemler aldık?</a:t>
            </a:r>
            <a:endParaRPr lang="tr-TR">
              <a:latin typeface="Neue Haas Grotesk Text Pro"/>
            </a:endParaRPr>
          </a:p>
        </p:txBody>
      </p:sp>
      <p:sp>
        <p:nvSpPr>
          <p:cNvPr id="3" name="İçerik Yer Tutucusu 2">
            <a:extLst>
              <a:ext uri="{FF2B5EF4-FFF2-40B4-BE49-F238E27FC236}">
                <a16:creationId xmlns:a16="http://schemas.microsoft.com/office/drawing/2014/main" id="{3E15DB7E-6D1F-CD2E-881C-7CE13738CCB9}"/>
              </a:ext>
            </a:extLst>
          </p:cNvPr>
          <p:cNvSpPr>
            <a:spLocks noGrp="1"/>
          </p:cNvSpPr>
          <p:nvPr>
            <p:ph idx="1"/>
          </p:nvPr>
        </p:nvSpPr>
        <p:spPr>
          <a:xfrm>
            <a:off x="612647" y="2811559"/>
            <a:ext cx="10653579" cy="3497801"/>
          </a:xfrm>
        </p:spPr>
        <p:txBody>
          <a:bodyPr vert="horz" lIns="91440" tIns="45720" rIns="91440" bIns="45720" rtlCol="0" anchor="t">
            <a:normAutofit/>
          </a:bodyPr>
          <a:lstStyle/>
          <a:p>
            <a:r>
              <a:rPr lang="tr-TR">
                <a:latin typeface="Neue Haas Grotesk Text Pro"/>
                <a:ea typeface="Calibri"/>
                <a:cs typeface="Calibri"/>
              </a:rPr>
              <a:t>Projemizde kullandığımız yapay zeka araçlarını etik kurallar çerçevesinde kullandık.</a:t>
            </a:r>
            <a:br>
              <a:rPr lang="tr-TR">
                <a:latin typeface="Neue Haas Grotesk Text Pro"/>
                <a:ea typeface="Calibri"/>
                <a:cs typeface="Calibri"/>
              </a:rPr>
            </a:br>
            <a:r>
              <a:rPr lang="tr-TR">
                <a:latin typeface="Neue Haas Grotesk Text Pro"/>
                <a:ea typeface="Calibri"/>
                <a:cs typeface="Calibri"/>
              </a:rPr>
              <a:t> Yapay zekâ araçlarını yalnızca su tüketim verilerini analiz etme, verimlilik adına çözüm önerileri elde etme gibi amaçlar için kullandık. Yapay zeka araçlarının karar verme yetkisini yalnızca öneri sunma seviyesinde tuttuk.</a:t>
            </a:r>
            <a:endParaRPr lang="tr-TR">
              <a:latin typeface="Neue Haas Grotesk Text Pro"/>
            </a:endParaRPr>
          </a:p>
        </p:txBody>
      </p:sp>
    </p:spTree>
    <p:extLst>
      <p:ext uri="{BB962C8B-B14F-4D97-AF65-F5344CB8AC3E}">
        <p14:creationId xmlns:p14="http://schemas.microsoft.com/office/powerpoint/2010/main" val="6963643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2CBE372-E94B-826D-5FDD-36C611F0462C}"/>
              </a:ext>
            </a:extLst>
          </p:cNvPr>
          <p:cNvSpPr>
            <a:spLocks noGrp="1"/>
          </p:cNvSpPr>
          <p:nvPr>
            <p:ph type="title"/>
          </p:nvPr>
        </p:nvSpPr>
        <p:spPr/>
        <p:txBody>
          <a:bodyPr>
            <a:normAutofit/>
          </a:bodyPr>
          <a:lstStyle/>
          <a:p>
            <a:r>
              <a:rPr lang="tr-TR">
                <a:latin typeface="Neue Haas Grotesk Text Pro"/>
                <a:ea typeface="Calibri"/>
                <a:cs typeface="Calibri"/>
              </a:rPr>
              <a:t>Veri gizliliği, yanlılık ve şeffaflık konularında nasıl adımlar attık?</a:t>
            </a:r>
            <a:endParaRPr lang="tr-TR">
              <a:latin typeface="Neue Haas Grotesk Text Pro"/>
            </a:endParaRPr>
          </a:p>
        </p:txBody>
      </p:sp>
      <p:sp>
        <p:nvSpPr>
          <p:cNvPr id="3" name="İçerik Yer Tutucusu 2">
            <a:extLst>
              <a:ext uri="{FF2B5EF4-FFF2-40B4-BE49-F238E27FC236}">
                <a16:creationId xmlns:a16="http://schemas.microsoft.com/office/drawing/2014/main" id="{B214970A-8B1C-CC49-3991-1045042F2382}"/>
              </a:ext>
            </a:extLst>
          </p:cNvPr>
          <p:cNvSpPr>
            <a:spLocks noGrp="1"/>
          </p:cNvSpPr>
          <p:nvPr>
            <p:ph idx="1"/>
          </p:nvPr>
        </p:nvSpPr>
        <p:spPr/>
        <p:txBody>
          <a:bodyPr vert="horz" lIns="91440" tIns="45720" rIns="91440" bIns="45720" rtlCol="0" anchor="t">
            <a:normAutofit/>
          </a:bodyPr>
          <a:lstStyle/>
          <a:p>
            <a:pPr marL="342900" indent="-342900"/>
            <a:r>
              <a:rPr lang="tr-TR">
                <a:ea typeface="+mn-lt"/>
                <a:cs typeface="+mn-lt"/>
              </a:rPr>
              <a:t>Projede kullanılan veriler gizli hale getirilmiş ve kişisel bilgilerin korunmasına özen gösterilmiştir. Kullanıcıların kimliğini açığa çıkaracak bilgiler toplanmamıştır.</a:t>
            </a:r>
            <a:br>
              <a:rPr lang="tr-TR">
                <a:ea typeface="+mn-lt"/>
                <a:cs typeface="+mn-lt"/>
              </a:rPr>
            </a:br>
            <a:r>
              <a:rPr lang="tr-TR">
                <a:ea typeface="+mn-lt"/>
                <a:cs typeface="+mn-lt"/>
              </a:rPr>
              <a:t> Sistemin genel kullanıcı kitlesini temsil etmesi için modelin analiz ettiği veri setleri farklı demografik grupları kapsayacak şekilde seçilmiştir. Cinsiyet, yaş, coğrafi konum gibi ayrımcılık riski taşıyan özellikler sistemde kullanılmamıştır. Bunun yerine, yalnızca su tüketimine doğrudan etkisi olan tarafsız veriler kullanılmıştır.</a:t>
            </a:r>
            <a:br>
              <a:rPr lang="tr-TR">
                <a:ea typeface="+mn-lt"/>
                <a:cs typeface="+mn-lt"/>
              </a:rPr>
            </a:br>
            <a:r>
              <a:rPr lang="tr-TR">
                <a:ea typeface="+mn-lt"/>
                <a:cs typeface="+mn-lt"/>
              </a:rPr>
              <a:t> </a:t>
            </a:r>
            <a:endParaRPr lang="tr-TR"/>
          </a:p>
        </p:txBody>
      </p:sp>
    </p:spTree>
    <p:extLst>
      <p:ext uri="{BB962C8B-B14F-4D97-AF65-F5344CB8AC3E}">
        <p14:creationId xmlns:p14="http://schemas.microsoft.com/office/powerpoint/2010/main" val="4256098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EB2C47-8ED9-F14D-63A8-5ADB4FECA33D}"/>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EF1B2A09-C83C-0292-389B-300356E49BEE}"/>
              </a:ext>
            </a:extLst>
          </p:cNvPr>
          <p:cNvSpPr>
            <a:spLocks noGrp="1"/>
          </p:cNvSpPr>
          <p:nvPr>
            <p:ph idx="1"/>
          </p:nvPr>
        </p:nvSpPr>
        <p:spPr/>
        <p:txBody>
          <a:bodyPr vert="horz" lIns="91440" tIns="45720" rIns="91440" bIns="45720" rtlCol="0" anchor="t">
            <a:normAutofit/>
          </a:bodyPr>
          <a:lstStyle/>
          <a:p>
            <a:pPr marL="342900" indent="-342900"/>
            <a:r>
              <a:rPr lang="tr-TR"/>
              <a:t>Projenin her aşamasında kullanılan grafikler, algoritmalar ve veri kaynakları açık bir şekilde belirtilerek projenin şeffaf olması sağlanmıştır. Hazırladığımız asistanın nasıl çalıştığını anlaşılması adına sade ve anlaşılır bilgilendirme metinleri hazırlanmıştır.</a:t>
            </a:r>
            <a:br>
              <a:rPr lang="tr-TR"/>
            </a:br>
            <a:r>
              <a:rPr lang="tr-TR"/>
              <a:t> Bu ilkeler doğrultusunda, projemiz yalnızca teknolojik olarak değil, etik ve toplumsal sorumluluk açısından da sürdürülebilirlik ve güvenilirlik hedeflerini gözeterek yürütülmüştür. Bu sayede hem bireyler hem de toplum genelinde su tüketimi konusunda bilinçli çözümlerin uygulanması teşvik edilmiştir.</a:t>
            </a:r>
          </a:p>
          <a:p>
            <a:pPr marL="0" indent="0">
              <a:buNone/>
            </a:pPr>
            <a:endParaRPr lang="tr-TR"/>
          </a:p>
        </p:txBody>
      </p:sp>
    </p:spTree>
    <p:extLst>
      <p:ext uri="{BB962C8B-B14F-4D97-AF65-F5344CB8AC3E}">
        <p14:creationId xmlns:p14="http://schemas.microsoft.com/office/powerpoint/2010/main" val="14079901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FAD71BC-9F04-043C-7EE2-09B28893505C}"/>
              </a:ext>
            </a:extLst>
          </p:cNvPr>
          <p:cNvSpPr>
            <a:spLocks noGrp="1"/>
          </p:cNvSpPr>
          <p:nvPr>
            <p:ph type="title"/>
          </p:nvPr>
        </p:nvSpPr>
        <p:spPr/>
        <p:txBody>
          <a:bodyPr/>
          <a:lstStyle/>
          <a:p>
            <a:r>
              <a:rPr lang="tr-TR" dirty="0"/>
              <a:t>Kaynaklar:</a:t>
            </a:r>
          </a:p>
        </p:txBody>
      </p:sp>
      <p:sp>
        <p:nvSpPr>
          <p:cNvPr id="3" name="İçerik Yer Tutucusu 2">
            <a:extLst>
              <a:ext uri="{FF2B5EF4-FFF2-40B4-BE49-F238E27FC236}">
                <a16:creationId xmlns:a16="http://schemas.microsoft.com/office/drawing/2014/main" id="{6EA60060-BC47-EEE1-EFB2-90B84AC569CF}"/>
              </a:ext>
            </a:extLst>
          </p:cNvPr>
          <p:cNvSpPr>
            <a:spLocks noGrp="1"/>
          </p:cNvSpPr>
          <p:nvPr>
            <p:ph idx="1"/>
          </p:nvPr>
        </p:nvSpPr>
        <p:spPr/>
        <p:txBody>
          <a:bodyPr vert="horz" lIns="91440" tIns="45720" rIns="91440" bIns="45720" rtlCol="0" anchor="t">
            <a:normAutofit/>
          </a:bodyPr>
          <a:lstStyle/>
          <a:p>
            <a:pPr>
              <a:buNone/>
            </a:pPr>
            <a:r>
              <a:rPr lang="tr-TR" dirty="0">
                <a:latin typeface="Times New Roman"/>
                <a:cs typeface="Times New Roman"/>
              </a:rPr>
              <a:t>[1]: UN-</a:t>
            </a:r>
            <a:r>
              <a:rPr lang="tr-TR" dirty="0" err="1">
                <a:latin typeface="Times New Roman"/>
                <a:cs typeface="Times New Roman"/>
              </a:rPr>
              <a:t>Water</a:t>
            </a:r>
            <a:r>
              <a:rPr lang="tr-TR" dirty="0">
                <a:latin typeface="Times New Roman"/>
                <a:cs typeface="Times New Roman"/>
              </a:rPr>
              <a:t>. (2023). </a:t>
            </a:r>
            <a:r>
              <a:rPr lang="tr-TR" i="1" dirty="0" err="1">
                <a:latin typeface="Times New Roman"/>
                <a:cs typeface="Times New Roman"/>
              </a:rPr>
              <a:t>Water</a:t>
            </a:r>
            <a:r>
              <a:rPr lang="tr-TR" i="1" dirty="0">
                <a:latin typeface="Times New Roman"/>
                <a:cs typeface="Times New Roman"/>
              </a:rPr>
              <a:t> </a:t>
            </a:r>
            <a:r>
              <a:rPr lang="tr-TR" i="1" dirty="0" err="1">
                <a:latin typeface="Times New Roman"/>
                <a:cs typeface="Times New Roman"/>
              </a:rPr>
              <a:t>Scarcity</a:t>
            </a:r>
            <a:r>
              <a:rPr lang="tr-TR" i="1" dirty="0">
                <a:latin typeface="Times New Roman"/>
                <a:cs typeface="Times New Roman"/>
              </a:rPr>
              <a:t> </a:t>
            </a:r>
            <a:r>
              <a:rPr lang="tr-TR" i="1" dirty="0" err="1">
                <a:latin typeface="Times New Roman"/>
                <a:cs typeface="Times New Roman"/>
              </a:rPr>
              <a:t>Factsheet</a:t>
            </a:r>
            <a:r>
              <a:rPr lang="tr-TR" i="1" dirty="0">
                <a:latin typeface="Times New Roman"/>
                <a:cs typeface="Times New Roman"/>
              </a:rPr>
              <a:t>.</a:t>
            </a:r>
            <a:br>
              <a:rPr lang="tr-TR" i="1" dirty="0">
                <a:latin typeface="Times New Roman"/>
                <a:cs typeface="Times New Roman"/>
              </a:rPr>
            </a:br>
            <a:r>
              <a:rPr lang="tr-TR" i="1" dirty="0">
                <a:latin typeface="Times New Roman"/>
                <a:cs typeface="Times New Roman"/>
              </a:rPr>
              <a:t>        </a:t>
            </a:r>
            <a:r>
              <a:rPr lang="tr-TR" dirty="0">
                <a:latin typeface="Times New Roman"/>
                <a:cs typeface="Times New Roman"/>
                <a:hlinkClick r:id="rId2"/>
              </a:rPr>
              <a:t>https://www.unwater.org/water-facts/water-scarcity</a:t>
            </a:r>
            <a:endParaRPr lang="en-US"/>
          </a:p>
          <a:p>
            <a:pPr>
              <a:buNone/>
            </a:pPr>
            <a:r>
              <a:rPr lang="tr-TR" dirty="0">
                <a:latin typeface="Times New Roman"/>
                <a:cs typeface="Times New Roman"/>
              </a:rPr>
              <a:t>[2]: Türkiye Cumhuriyeti Dışişleri Bakanlığı. (Tarih belirtilmemiş). </a:t>
            </a:r>
            <a:r>
              <a:rPr lang="tr-TR" i="1" dirty="0">
                <a:latin typeface="Times New Roman"/>
                <a:cs typeface="Times New Roman"/>
              </a:rPr>
              <a:t>Türkiye’nin Su Politikası.</a:t>
            </a:r>
            <a:endParaRPr lang="tr-TR" dirty="0"/>
          </a:p>
          <a:p>
            <a:pPr>
              <a:buNone/>
            </a:pPr>
            <a:r>
              <a:rPr lang="tr-TR" dirty="0">
                <a:latin typeface="Times New Roman"/>
                <a:cs typeface="Times New Roman"/>
              </a:rPr>
              <a:t>       </a:t>
            </a:r>
            <a:r>
              <a:rPr lang="tr-TR" dirty="0">
                <a:latin typeface="Times New Roman"/>
                <a:cs typeface="Times New Roman"/>
                <a:hlinkClick r:id="rId3"/>
              </a:rPr>
              <a:t>https://www.mfa.gov.tr/turkiye_s-policy-on-water-issues.en.mfa</a:t>
            </a:r>
            <a:r>
              <a:rPr lang="tr-TR" dirty="0">
                <a:latin typeface="Times New Roman"/>
                <a:cs typeface="Times New Roman"/>
              </a:rPr>
              <a:t> </a:t>
            </a:r>
            <a:endParaRPr lang="tr-TR" dirty="0"/>
          </a:p>
          <a:p>
            <a:pPr marL="0" indent="0">
              <a:buNone/>
            </a:pPr>
            <a:r>
              <a:rPr lang="tr-TR">
                <a:ea typeface="+mn-lt"/>
                <a:cs typeface="+mn-lt"/>
              </a:rPr>
              <a:t>[3]:  https://www.dsi.gov.tr/Sayfa/Detay/754</a:t>
            </a:r>
            <a:endParaRPr lang="tr-TR"/>
          </a:p>
          <a:p>
            <a:endParaRPr lang="tr-TR" dirty="0"/>
          </a:p>
          <a:p>
            <a:r>
              <a:rPr lang="tr-TR" dirty="0"/>
              <a:t>Grafikler İçin:</a:t>
            </a:r>
          </a:p>
          <a:p>
            <a:r>
              <a:rPr lang="tr-TR">
                <a:latin typeface="Times New Roman"/>
                <a:cs typeface="Times New Roman"/>
              </a:rPr>
              <a:t>Sarış, F. (2021). Türkiye'de Evsel Su Tedarik ve Tüketim İstatistiklerinin Değerlendirilmesi, Coğrafi Bilimler Dergisi/ Turkish Journal of Geographical Sciences, 19(1), 195-216, doi: 10.33688/aucbd.883794</a:t>
            </a:r>
            <a:endParaRPr lang="tr-TR" dirty="0"/>
          </a:p>
          <a:p>
            <a:endParaRPr lang="tr-TR" dirty="0"/>
          </a:p>
        </p:txBody>
      </p:sp>
    </p:spTree>
    <p:extLst>
      <p:ext uri="{BB962C8B-B14F-4D97-AF65-F5344CB8AC3E}">
        <p14:creationId xmlns:p14="http://schemas.microsoft.com/office/powerpoint/2010/main" val="1003279887"/>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47</Slides>
  <Notes>0</Notes>
  <HiddenSlides>0</HiddenSlide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VanillaVTI</vt:lpstr>
      <vt:lpstr>ÜRETKEN YAPAY ZEKA İLE KİŞİSEL SU ASİSTANI</vt:lpstr>
      <vt:lpstr>Projenin Konusu Nedir?</vt:lpstr>
      <vt:lpstr>Projenin Amacı Nedir?</vt:lpstr>
      <vt:lpstr>PowerPoint Presentation</vt:lpstr>
      <vt:lpstr>Videomuzun Promptu:</vt:lpstr>
      <vt:lpstr>Afişimizin Promptları:</vt:lpstr>
      <vt:lpstr>Bu proje hangi problemi ele alıyor? Projenin önemi nedir?</vt:lpstr>
      <vt:lpstr>PowerPoint Presentation</vt:lpstr>
      <vt:lpstr>Önceki Sayfada Bahsettiğimiz Verilerden Oluşturduğumuz Veri Grafiklerimiz:</vt:lpstr>
      <vt:lpstr>PowerPoint Presentation</vt:lpstr>
      <vt:lpstr>PowerPoint Presentation</vt:lpstr>
      <vt:lpstr>PowerPoint Presentation</vt:lpstr>
      <vt:lpstr>PowerPoint Presentation</vt:lpstr>
      <vt:lpstr>TÜİK ve DSİ'den Aldığımız Verilerle Oluşturduğumuz Sektörel Su Kullanım Grafiği: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Oluşturulan Su Asistanı İle Kullanıcının Etkileşimi</vt:lpstr>
      <vt:lpstr>Kullanıcının girdiği değerlere göre asistanımız haftalık su tüketimi tahmini yapmaktadır.</vt:lpstr>
      <vt:lpstr>Asistanımız adım adım her hafta su tüketimini biraz daha azaltabilmek için öneriler veriyor. Bunu yaparken de samimi bir üslup kullanıyor. </vt:lpstr>
      <vt:lpstr>Asistanımız, kullanıcının önerileri uygulaması sonucunda ne kadarlık bir tasarruf olacağını zamana göre tablolar olarak veriyor</vt:lpstr>
      <vt:lpstr>Kişisel Su Asistanımızın Başka Bir Kullanım Örneği</vt:lpstr>
      <vt:lpstr>PowerPoint Presentation</vt:lpstr>
      <vt:lpstr>PowerPoint Presentation</vt:lpstr>
      <vt:lpstr>PowerPoint Presentation</vt:lpstr>
      <vt:lpstr>Proje adımları nelerdi?</vt:lpstr>
      <vt:lpstr>PowerPoint Presentation</vt:lpstr>
      <vt:lpstr>Hangi kaynakları, araçları ve teknikleri kullandık?</vt:lpstr>
      <vt:lpstr>Proje sırasında karşılaştığımız zorluklar nelerdi ve nasıl çözdük?</vt:lpstr>
      <vt:lpstr>Etik Ve Toplumsal Boyutlar</vt:lpstr>
      <vt:lpstr>Yapay zeka aracını etik olarak sorumlu bir şekilde kullandık mı? Bunun için neler yaptık ve ne gibi önlemler aldık?</vt:lpstr>
      <vt:lpstr>Veri gizliliği, yanlılık ve şeffaflık konularında nasıl adımlar attık?</vt:lpstr>
      <vt:lpstr>PowerPoint Presentation</vt:lpstr>
      <vt:lpstr>Kaynaklar: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27</cp:revision>
  <dcterms:created xsi:type="dcterms:W3CDTF">2025-11-25T11:18:22Z</dcterms:created>
  <dcterms:modified xsi:type="dcterms:W3CDTF">2025-12-01T16:29:17Z</dcterms:modified>
</cp:coreProperties>
</file>